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58" r:id="rId4"/>
    <p:sldId id="259" r:id="rId5"/>
    <p:sldId id="260" r:id="rId6"/>
    <p:sldId id="261" r:id="rId7"/>
    <p:sldId id="265" r:id="rId8"/>
    <p:sldId id="263" r:id="rId9"/>
    <p:sldId id="266" r:id="rId10"/>
    <p:sldId id="262" r:id="rId11"/>
    <p:sldId id="267" r:id="rId12"/>
    <p:sldId id="269" r:id="rId13"/>
    <p:sldId id="270" r:id="rId14"/>
    <p:sldId id="271" r:id="rId15"/>
    <p:sldId id="26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D9C7283-2D17-1E74-C658-35AF972058E0}" v="9" dt="2025-11-29T03:11:42.9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9D6F5-A9D4-C22B-732C-A31A172FB93C}"/>
              </a:ext>
            </a:extLst>
          </p:cNvPr>
          <p:cNvSpPr>
            <a:spLocks noGrp="1"/>
          </p:cNvSpPr>
          <p:nvPr>
            <p:ph type="ctrTitle"/>
          </p:nvPr>
        </p:nvSpPr>
        <p:spPr>
          <a:xfrm>
            <a:off x="1524000" y="1122363"/>
            <a:ext cx="9144000" cy="2209393"/>
          </a:xfrm>
        </p:spPr>
        <p:txBody>
          <a:bodyPr anchor="b">
            <a:normAutofit/>
          </a:bodyPr>
          <a:lstStyle>
            <a:lvl1pPr algn="ctr">
              <a:defRPr sz="3600"/>
            </a:lvl1pPr>
          </a:lstStyle>
          <a:p>
            <a:r>
              <a:rPr lang="en-US" dirty="0"/>
              <a:t>Click to edit Master title style</a:t>
            </a:r>
          </a:p>
        </p:txBody>
      </p:sp>
      <p:sp>
        <p:nvSpPr>
          <p:cNvPr id="3" name="Subtitle 2">
            <a:extLst>
              <a:ext uri="{FF2B5EF4-FFF2-40B4-BE49-F238E27FC236}">
                <a16:creationId xmlns:a16="http://schemas.microsoft.com/office/drawing/2014/main" id="{E11AFD6E-3459-290F-1147-F0C47ACEEA5B}"/>
              </a:ext>
            </a:extLst>
          </p:cNvPr>
          <p:cNvSpPr>
            <a:spLocks noGrp="1"/>
          </p:cNvSpPr>
          <p:nvPr>
            <p:ph type="subTitle" idx="1"/>
          </p:nvPr>
        </p:nvSpPr>
        <p:spPr>
          <a:xfrm>
            <a:off x="1524000" y="4346774"/>
            <a:ext cx="9144000" cy="1066890"/>
          </a:xfrm>
        </p:spPr>
        <p:txBody>
          <a:bodyPr anchor="t">
            <a:normAutofit/>
          </a:bodyPr>
          <a:lstStyle>
            <a:lvl1pPr marL="0" indent="0" algn="ctr">
              <a:buNone/>
              <a:defRPr sz="1600" cap="all" spc="300" baseline="0"/>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54674D3-6FB9-5549-B0F2-FD61E82D1FF1}"/>
              </a:ext>
            </a:extLst>
          </p:cNvPr>
          <p:cNvSpPr>
            <a:spLocks noGrp="1"/>
          </p:cNvSpPr>
          <p:nvPr>
            <p:ph type="dt" sz="half" idx="10"/>
          </p:nvPr>
        </p:nvSpPr>
        <p:spPr/>
        <p:txBody>
          <a:bodyPr/>
          <a:lstStyle/>
          <a:p>
            <a:fld id="{807E39B8-A7CB-4B82-AC0C-44B99F546761}" type="datetimeFigureOut">
              <a:rPr lang="en-US" dirty="0"/>
              <a:t>11/28/2025</a:t>
            </a:fld>
            <a:endParaRPr lang="en-US" dirty="0"/>
          </a:p>
        </p:txBody>
      </p:sp>
      <p:sp>
        <p:nvSpPr>
          <p:cNvPr id="5" name="Footer Placeholder 4">
            <a:extLst>
              <a:ext uri="{FF2B5EF4-FFF2-40B4-BE49-F238E27FC236}">
                <a16:creationId xmlns:a16="http://schemas.microsoft.com/office/drawing/2014/main" id="{AB239BBC-C979-2C77-493E-CF5498AEB5DB}"/>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53813B7E-A51C-D9CD-2189-650A9D63BFF9}"/>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258063208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155F0-A6D4-C39B-394F-0B16E9C9CE81}"/>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EBD1860F-B260-57CE-E12B-2C94860319EC}"/>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F745C9F-D94D-E5D3-B73A-20621FA536D5}"/>
              </a:ext>
            </a:extLst>
          </p:cNvPr>
          <p:cNvSpPr>
            <a:spLocks noGrp="1"/>
          </p:cNvSpPr>
          <p:nvPr>
            <p:ph type="dt" sz="half" idx="10"/>
          </p:nvPr>
        </p:nvSpPr>
        <p:spPr/>
        <p:txBody>
          <a:bodyPr/>
          <a:lstStyle/>
          <a:p>
            <a:fld id="{FE7E3940-CA92-4FEE-A698-62CF7BC5AC36}" type="datetimeFigureOut">
              <a:rPr lang="en-US" dirty="0"/>
              <a:t>11/28/2025</a:t>
            </a:fld>
            <a:endParaRPr lang="en-US" dirty="0"/>
          </a:p>
        </p:txBody>
      </p:sp>
      <p:sp>
        <p:nvSpPr>
          <p:cNvPr id="5" name="Footer Placeholder 4">
            <a:extLst>
              <a:ext uri="{FF2B5EF4-FFF2-40B4-BE49-F238E27FC236}">
                <a16:creationId xmlns:a16="http://schemas.microsoft.com/office/drawing/2014/main" id="{E5FAB243-BB42-966A-4708-15C9B11D6885}"/>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D5C3A3BD-2CC5-03D3-4CD6-E31A55BA2D23}"/>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18235728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D8633-AC3B-E617-1C54-84932DDD72E5}"/>
              </a:ext>
            </a:extLst>
          </p:cNvPr>
          <p:cNvSpPr>
            <a:spLocks noGrp="1"/>
          </p:cNvSpPr>
          <p:nvPr>
            <p:ph type="title"/>
          </p:nvPr>
        </p:nvSpPr>
        <p:spPr>
          <a:xfrm>
            <a:off x="1474236" y="1514688"/>
            <a:ext cx="8584164" cy="3138875"/>
          </a:xfrm>
        </p:spPr>
        <p:txBody>
          <a:bodyPr anchor="b">
            <a:normAutofit/>
          </a:bodyPr>
          <a:lstStyle>
            <a:lvl1pPr>
              <a:defRPr sz="3600" cap="all" spc="300" baseline="0"/>
            </a:lvl1pPr>
          </a:lstStyle>
          <a:p>
            <a:r>
              <a:rPr lang="en-US" dirty="0"/>
              <a:t>Click to edit Master title style</a:t>
            </a:r>
          </a:p>
        </p:txBody>
      </p:sp>
      <p:sp>
        <p:nvSpPr>
          <p:cNvPr id="3" name="Text Placeholder 2">
            <a:extLst>
              <a:ext uri="{FF2B5EF4-FFF2-40B4-BE49-F238E27FC236}">
                <a16:creationId xmlns:a16="http://schemas.microsoft.com/office/drawing/2014/main" id="{CF68C242-ECAB-AEC3-7E9B-F9854AF31CD2}"/>
              </a:ext>
            </a:extLst>
          </p:cNvPr>
          <p:cNvSpPr>
            <a:spLocks noGrp="1"/>
          </p:cNvSpPr>
          <p:nvPr>
            <p:ph type="body" idx="1"/>
          </p:nvPr>
        </p:nvSpPr>
        <p:spPr>
          <a:xfrm>
            <a:off x="1474236" y="4963885"/>
            <a:ext cx="8584165" cy="1125765"/>
          </a:xfrm>
        </p:spPr>
        <p:txBody>
          <a:bodyPr>
            <a:normAutofit/>
          </a:bodyPr>
          <a:lstStyle>
            <a:lvl1pPr marL="0" indent="0">
              <a:buNone/>
              <a:defRPr sz="1600" cap="all" spc="300" baseline="0">
                <a:solidFill>
                  <a:schemeClr val="tx2"/>
                </a:solidFill>
              </a:defRPr>
            </a:lvl1pPr>
            <a:lvl2pPr marL="457200" indent="0">
              <a:buNone/>
              <a:defRPr sz="1600">
                <a:solidFill>
                  <a:schemeClr val="tx1">
                    <a:tint val="82000"/>
                  </a:schemeClr>
                </a:solidFill>
              </a:defRPr>
            </a:lvl2pPr>
            <a:lvl3pPr marL="914400" indent="0">
              <a:buNone/>
              <a:defRPr sz="16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20D9B82-EEF4-2CD7-61FE-BAFB2B96D641}"/>
              </a:ext>
            </a:extLst>
          </p:cNvPr>
          <p:cNvSpPr>
            <a:spLocks noGrp="1"/>
          </p:cNvSpPr>
          <p:nvPr>
            <p:ph type="dt" sz="half" idx="10"/>
          </p:nvPr>
        </p:nvSpPr>
        <p:spPr/>
        <p:txBody>
          <a:bodyPr/>
          <a:lstStyle/>
          <a:p>
            <a:fld id="{E33CD641-6C35-45D1-9313-2719E9EA8AD8}" type="datetimeFigureOut">
              <a:rPr lang="en-US" dirty="0"/>
              <a:t>11/28/2025</a:t>
            </a:fld>
            <a:endParaRPr lang="en-US" dirty="0"/>
          </a:p>
        </p:txBody>
      </p:sp>
      <p:sp>
        <p:nvSpPr>
          <p:cNvPr id="5" name="Footer Placeholder 4">
            <a:extLst>
              <a:ext uri="{FF2B5EF4-FFF2-40B4-BE49-F238E27FC236}">
                <a16:creationId xmlns:a16="http://schemas.microsoft.com/office/drawing/2014/main" id="{59A222B6-F7A8-70A5-B023-FCAD5D7C4BB1}"/>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4E85D758-2E38-8A8D-75BC-667F6A23B95B}"/>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38098242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60DFF-11BD-F5F4-35D4-1986ABBD3675}"/>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C5D1279-E9A9-702E-144D-61114B788E88}"/>
              </a:ext>
            </a:extLst>
          </p:cNvPr>
          <p:cNvSpPr>
            <a:spLocks noGrp="1"/>
          </p:cNvSpPr>
          <p:nvPr>
            <p:ph sz="half" idx="1"/>
          </p:nvPr>
        </p:nvSpPr>
        <p:spPr>
          <a:xfrm>
            <a:off x="877824" y="2159175"/>
            <a:ext cx="4977453" cy="40177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1584E624-7A76-56EC-FA0D-E2AA8EF9B951}"/>
              </a:ext>
            </a:extLst>
          </p:cNvPr>
          <p:cNvSpPr>
            <a:spLocks noGrp="1"/>
          </p:cNvSpPr>
          <p:nvPr>
            <p:ph sz="half" idx="2"/>
          </p:nvPr>
        </p:nvSpPr>
        <p:spPr>
          <a:xfrm>
            <a:off x="6328391" y="2159175"/>
            <a:ext cx="4985785" cy="40177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99D7DF5-30AD-AE47-D516-5CEE82770734}"/>
              </a:ext>
            </a:extLst>
          </p:cNvPr>
          <p:cNvSpPr>
            <a:spLocks noGrp="1"/>
          </p:cNvSpPr>
          <p:nvPr>
            <p:ph type="dt" sz="half" idx="10"/>
          </p:nvPr>
        </p:nvSpPr>
        <p:spPr/>
        <p:txBody>
          <a:bodyPr/>
          <a:lstStyle/>
          <a:p>
            <a:fld id="{35301268-3A74-4110-8F08-063DFB8BB885}" type="datetimeFigureOut">
              <a:rPr lang="en-US" dirty="0"/>
              <a:t>11/28/2025</a:t>
            </a:fld>
            <a:endParaRPr lang="en-US" dirty="0"/>
          </a:p>
        </p:txBody>
      </p:sp>
      <p:sp>
        <p:nvSpPr>
          <p:cNvPr id="6" name="Footer Placeholder 5">
            <a:extLst>
              <a:ext uri="{FF2B5EF4-FFF2-40B4-BE49-F238E27FC236}">
                <a16:creationId xmlns:a16="http://schemas.microsoft.com/office/drawing/2014/main" id="{8B05C503-B649-B083-6341-F6E376AF8C72}"/>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1E53EA35-CF5A-DB36-8B14-5C184B6F14D3}"/>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609320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BA3D8-FDD9-329B-BCC6-BBF47F01BEE2}"/>
              </a:ext>
            </a:extLst>
          </p:cNvPr>
          <p:cNvSpPr>
            <a:spLocks noGrp="1"/>
          </p:cNvSpPr>
          <p:nvPr>
            <p:ph type="title"/>
          </p:nvPr>
        </p:nvSpPr>
        <p:spPr>
          <a:xfrm>
            <a:off x="881348" y="602671"/>
            <a:ext cx="10429303" cy="768928"/>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82EEF7DC-0699-CB3C-A7CB-39035D89A4A5}"/>
              </a:ext>
            </a:extLst>
          </p:cNvPr>
          <p:cNvSpPr>
            <a:spLocks noGrp="1"/>
          </p:cNvSpPr>
          <p:nvPr>
            <p:ph type="body" idx="1"/>
          </p:nvPr>
        </p:nvSpPr>
        <p:spPr>
          <a:xfrm>
            <a:off x="881349" y="1696325"/>
            <a:ext cx="4963538" cy="647700"/>
          </a:xfrm>
        </p:spPr>
        <p:txBody>
          <a:bodyPr anchor="b">
            <a:noAutofit/>
          </a:bodyPr>
          <a:lstStyle>
            <a:lvl1pPr marL="0" indent="0">
              <a:buNone/>
              <a:defRPr sz="1400" b="1" cap="all" spc="300" baseline="0"/>
            </a:lvl1pPr>
            <a:lvl2pPr marL="457200" indent="0">
              <a:buNone/>
              <a:defRPr sz="1400" b="1"/>
            </a:lvl2pPr>
            <a:lvl3pPr marL="914400" indent="0">
              <a:buNone/>
              <a:defRPr sz="1400" b="1"/>
            </a:lvl3pPr>
            <a:lvl4pPr marL="1371600" indent="0">
              <a:buNone/>
              <a:defRPr sz="1400" b="1"/>
            </a:lvl4pPr>
            <a:lvl5pPr marL="1828800" indent="0">
              <a:buNone/>
              <a:defRPr sz="1400" b="1"/>
            </a:lvl5pPr>
            <a:lvl6pPr marL="2286000" indent="0">
              <a:buNone/>
              <a:defRPr sz="1400" b="1"/>
            </a:lvl6pPr>
            <a:lvl7pPr marL="2743200" indent="0">
              <a:buNone/>
              <a:defRPr sz="1400" b="1"/>
            </a:lvl7pPr>
            <a:lvl8pPr marL="3200400" indent="0">
              <a:buNone/>
              <a:defRPr sz="1400" b="1"/>
            </a:lvl8pPr>
            <a:lvl9pPr marL="3657600" indent="0">
              <a:buNone/>
              <a:defRPr sz="14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D252EB40-99E1-CCA4-BAFA-F51AA56CF295}"/>
              </a:ext>
            </a:extLst>
          </p:cNvPr>
          <p:cNvSpPr>
            <a:spLocks noGrp="1"/>
          </p:cNvSpPr>
          <p:nvPr>
            <p:ph sz="half" idx="2"/>
          </p:nvPr>
        </p:nvSpPr>
        <p:spPr>
          <a:xfrm>
            <a:off x="881349" y="2344025"/>
            <a:ext cx="4963538" cy="383337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38979BC-6B50-751D-D569-F360938B05C8}"/>
              </a:ext>
            </a:extLst>
          </p:cNvPr>
          <p:cNvSpPr>
            <a:spLocks noGrp="1"/>
          </p:cNvSpPr>
          <p:nvPr>
            <p:ph type="body" sz="quarter" idx="3"/>
          </p:nvPr>
        </p:nvSpPr>
        <p:spPr>
          <a:xfrm>
            <a:off x="6322669" y="1696325"/>
            <a:ext cx="4987982" cy="647700"/>
          </a:xfrm>
        </p:spPr>
        <p:txBody>
          <a:bodyPr anchor="b">
            <a:noAutofit/>
          </a:bodyPr>
          <a:lstStyle>
            <a:lvl1pPr marL="0" indent="0">
              <a:buNone/>
              <a:defRPr sz="1400" b="1" cap="all" spc="300" baseline="0"/>
            </a:lvl1pPr>
            <a:lvl2pPr marL="457200" indent="0">
              <a:buNone/>
              <a:defRPr sz="1400" b="1"/>
            </a:lvl2pPr>
            <a:lvl3pPr marL="914400" indent="0">
              <a:buNone/>
              <a:defRPr sz="1400" b="1"/>
            </a:lvl3pPr>
            <a:lvl4pPr marL="1371600" indent="0">
              <a:buNone/>
              <a:defRPr sz="1400" b="1"/>
            </a:lvl4pPr>
            <a:lvl5pPr marL="1828800" indent="0">
              <a:buNone/>
              <a:defRPr sz="1400" b="1"/>
            </a:lvl5pPr>
            <a:lvl6pPr marL="2286000" indent="0">
              <a:buNone/>
              <a:defRPr sz="1400" b="1"/>
            </a:lvl6pPr>
            <a:lvl7pPr marL="2743200" indent="0">
              <a:buNone/>
              <a:defRPr sz="1400" b="1"/>
            </a:lvl7pPr>
            <a:lvl8pPr marL="3200400" indent="0">
              <a:buNone/>
              <a:defRPr sz="1400" b="1"/>
            </a:lvl8pPr>
            <a:lvl9pPr marL="3657600" indent="0">
              <a:buNone/>
              <a:defRPr sz="14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84A3A26F-230E-2D25-6BDC-6ECA00FAEFD5}"/>
              </a:ext>
            </a:extLst>
          </p:cNvPr>
          <p:cNvSpPr>
            <a:spLocks noGrp="1"/>
          </p:cNvSpPr>
          <p:nvPr>
            <p:ph sz="quarter" idx="4"/>
          </p:nvPr>
        </p:nvSpPr>
        <p:spPr>
          <a:xfrm>
            <a:off x="6322669" y="2344025"/>
            <a:ext cx="4987982" cy="383337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8182A01-DE7C-3BA4-96FF-CDEF2F608FCA}"/>
              </a:ext>
            </a:extLst>
          </p:cNvPr>
          <p:cNvSpPr>
            <a:spLocks noGrp="1"/>
          </p:cNvSpPr>
          <p:nvPr>
            <p:ph type="dt" sz="half" idx="10"/>
          </p:nvPr>
        </p:nvSpPr>
        <p:spPr/>
        <p:txBody>
          <a:bodyPr/>
          <a:lstStyle/>
          <a:p>
            <a:fld id="{BF91C1AF-C1FB-48A7-98B4-E595E63F6614}" type="datetimeFigureOut">
              <a:rPr lang="en-US" dirty="0"/>
              <a:t>11/28/2025</a:t>
            </a:fld>
            <a:endParaRPr lang="en-US" dirty="0"/>
          </a:p>
        </p:txBody>
      </p:sp>
      <p:sp>
        <p:nvSpPr>
          <p:cNvPr id="8" name="Footer Placeholder 7">
            <a:extLst>
              <a:ext uri="{FF2B5EF4-FFF2-40B4-BE49-F238E27FC236}">
                <a16:creationId xmlns:a16="http://schemas.microsoft.com/office/drawing/2014/main" id="{6FCAA828-0166-8ECD-BCE8-654BEFDD7155}"/>
              </a:ext>
            </a:extLst>
          </p:cNvPr>
          <p:cNvSpPr>
            <a:spLocks noGrp="1"/>
          </p:cNvSpPr>
          <p:nvPr>
            <p:ph type="ftr" sz="quarter" idx="11"/>
          </p:nvPr>
        </p:nvSpPr>
        <p:spPr/>
        <p:txBody>
          <a:bodyPr/>
          <a:lstStyle/>
          <a:p>
            <a:r>
              <a:rPr lang="en-US" dirty="0"/>
              <a:t>
              </a:t>
            </a:r>
          </a:p>
        </p:txBody>
      </p:sp>
      <p:sp>
        <p:nvSpPr>
          <p:cNvPr id="9" name="Slide Number Placeholder 8">
            <a:extLst>
              <a:ext uri="{FF2B5EF4-FFF2-40B4-BE49-F238E27FC236}">
                <a16:creationId xmlns:a16="http://schemas.microsoft.com/office/drawing/2014/main" id="{7690C0D2-459A-04AA-FD90-7687D2FE8A9D}"/>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41007517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D549F-FA71-857F-E02E-3CB63CE683E2}"/>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F569611-F911-D3D4-B613-ACCDA56C45D2}"/>
              </a:ext>
            </a:extLst>
          </p:cNvPr>
          <p:cNvSpPr>
            <a:spLocks noGrp="1"/>
          </p:cNvSpPr>
          <p:nvPr>
            <p:ph type="dt" sz="half" idx="10"/>
          </p:nvPr>
        </p:nvSpPr>
        <p:spPr/>
        <p:txBody>
          <a:bodyPr/>
          <a:lstStyle/>
          <a:p>
            <a:fld id="{97144C44-5F8C-4BEA-BBCE-8694F126DC43}" type="datetimeFigureOut">
              <a:rPr lang="en-US" dirty="0"/>
              <a:t>11/28/2025</a:t>
            </a:fld>
            <a:endParaRPr lang="en-US" dirty="0"/>
          </a:p>
        </p:txBody>
      </p:sp>
      <p:sp>
        <p:nvSpPr>
          <p:cNvPr id="4" name="Footer Placeholder 3">
            <a:extLst>
              <a:ext uri="{FF2B5EF4-FFF2-40B4-BE49-F238E27FC236}">
                <a16:creationId xmlns:a16="http://schemas.microsoft.com/office/drawing/2014/main" id="{F6EA1961-0B6B-8FEB-F2CB-C42E90EF2DFD}"/>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F42AA80E-3139-9F1B-9C3E-2A76628CF4F8}"/>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2015197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F54789-9F96-511A-0FB6-24F6A8418C72}"/>
              </a:ext>
            </a:extLst>
          </p:cNvPr>
          <p:cNvSpPr>
            <a:spLocks noGrp="1"/>
          </p:cNvSpPr>
          <p:nvPr>
            <p:ph type="dt" sz="half" idx="10"/>
          </p:nvPr>
        </p:nvSpPr>
        <p:spPr/>
        <p:txBody>
          <a:bodyPr/>
          <a:lstStyle/>
          <a:p>
            <a:fld id="{039E56F9-C8F2-4EF7-8042-704C94FF2795}" type="datetimeFigureOut">
              <a:rPr lang="en-US" dirty="0"/>
              <a:t>11/28/2025</a:t>
            </a:fld>
            <a:endParaRPr lang="en-US" dirty="0"/>
          </a:p>
        </p:txBody>
      </p:sp>
      <p:sp>
        <p:nvSpPr>
          <p:cNvPr id="3" name="Footer Placeholder 2">
            <a:extLst>
              <a:ext uri="{FF2B5EF4-FFF2-40B4-BE49-F238E27FC236}">
                <a16:creationId xmlns:a16="http://schemas.microsoft.com/office/drawing/2014/main" id="{8B780399-ADEF-8F74-9F59-6AD804C9393E}"/>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95B6A34F-ABAB-9C4E-38A1-C6EEB944B97C}"/>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2586942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E3917-2BF6-1CE2-F34B-49F0D09A1B91}"/>
              </a:ext>
            </a:extLst>
          </p:cNvPr>
          <p:cNvSpPr>
            <a:spLocks noGrp="1"/>
          </p:cNvSpPr>
          <p:nvPr>
            <p:ph type="title"/>
          </p:nvPr>
        </p:nvSpPr>
        <p:spPr>
          <a:xfrm>
            <a:off x="839788" y="807868"/>
            <a:ext cx="3640713" cy="2062594"/>
          </a:xfrm>
        </p:spPr>
        <p:txBody>
          <a:bodyPr anchor="t">
            <a:normAutofit/>
          </a:bodyPr>
          <a:lstStyle>
            <a:lvl1pPr>
              <a:defRPr sz="2800"/>
            </a:lvl1pPr>
          </a:lstStyle>
          <a:p>
            <a:r>
              <a:rPr lang="en-US" dirty="0"/>
              <a:t>Click to edit Master title style</a:t>
            </a:r>
          </a:p>
        </p:txBody>
      </p:sp>
      <p:sp>
        <p:nvSpPr>
          <p:cNvPr id="3" name="Content Placeholder 2">
            <a:extLst>
              <a:ext uri="{FF2B5EF4-FFF2-40B4-BE49-F238E27FC236}">
                <a16:creationId xmlns:a16="http://schemas.microsoft.com/office/drawing/2014/main" id="{40815B8F-A9F3-8583-FFF1-175021F17AF0}"/>
              </a:ext>
            </a:extLst>
          </p:cNvPr>
          <p:cNvSpPr>
            <a:spLocks noGrp="1"/>
          </p:cNvSpPr>
          <p:nvPr>
            <p:ph idx="1"/>
          </p:nvPr>
        </p:nvSpPr>
        <p:spPr>
          <a:xfrm>
            <a:off x="5432898" y="807867"/>
            <a:ext cx="5922489" cy="5053183"/>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C5D90AFF-A949-CE9E-6B94-C1B619612915}"/>
              </a:ext>
            </a:extLst>
          </p:cNvPr>
          <p:cNvSpPr>
            <a:spLocks noGrp="1"/>
          </p:cNvSpPr>
          <p:nvPr>
            <p:ph type="body" sz="half" idx="2"/>
          </p:nvPr>
        </p:nvSpPr>
        <p:spPr>
          <a:xfrm>
            <a:off x="839788" y="3000652"/>
            <a:ext cx="3640713" cy="2868336"/>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DA95267E-088F-FB9A-9469-551890F29F01}"/>
              </a:ext>
            </a:extLst>
          </p:cNvPr>
          <p:cNvSpPr>
            <a:spLocks noGrp="1"/>
          </p:cNvSpPr>
          <p:nvPr>
            <p:ph type="dt" sz="half" idx="10"/>
          </p:nvPr>
        </p:nvSpPr>
        <p:spPr/>
        <p:txBody>
          <a:bodyPr/>
          <a:lstStyle/>
          <a:p>
            <a:fld id="{4F6932DF-953D-44BD-83F8-5D8DA76EA12A}" type="datetimeFigureOut">
              <a:rPr lang="en-US" dirty="0"/>
              <a:t>11/28/2025</a:t>
            </a:fld>
            <a:endParaRPr lang="en-US" dirty="0"/>
          </a:p>
        </p:txBody>
      </p:sp>
      <p:sp>
        <p:nvSpPr>
          <p:cNvPr id="6" name="Footer Placeholder 5">
            <a:extLst>
              <a:ext uri="{FF2B5EF4-FFF2-40B4-BE49-F238E27FC236}">
                <a16:creationId xmlns:a16="http://schemas.microsoft.com/office/drawing/2014/main" id="{38EA3FFC-B3A6-C0B6-5DAE-70BE0D6FBD69}"/>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B108D35F-BC2E-8D14-060F-449CBAF7C0D2}"/>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25899402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909ED-ED97-A3CE-5569-77B45F41450A}"/>
              </a:ext>
            </a:extLst>
          </p:cNvPr>
          <p:cNvSpPr>
            <a:spLocks noGrp="1"/>
          </p:cNvSpPr>
          <p:nvPr>
            <p:ph type="title"/>
          </p:nvPr>
        </p:nvSpPr>
        <p:spPr>
          <a:xfrm>
            <a:off x="839788" y="820881"/>
            <a:ext cx="3639312" cy="2062595"/>
          </a:xfrm>
        </p:spPr>
        <p:txBody>
          <a:bodyPr anchor="t">
            <a:normAutofit/>
          </a:bodyPr>
          <a:lstStyle>
            <a:lvl1pPr>
              <a:defRPr sz="2800"/>
            </a:lvl1pPr>
          </a:lstStyle>
          <a:p>
            <a:r>
              <a:rPr lang="en-US" dirty="0"/>
              <a:t>Click to edit Master title style</a:t>
            </a:r>
          </a:p>
        </p:txBody>
      </p:sp>
      <p:sp>
        <p:nvSpPr>
          <p:cNvPr id="3" name="Picture Placeholder 2">
            <a:extLst>
              <a:ext uri="{FF2B5EF4-FFF2-40B4-BE49-F238E27FC236}">
                <a16:creationId xmlns:a16="http://schemas.microsoft.com/office/drawing/2014/main" id="{0683BB3A-9E24-DE4C-9619-1502F1B6F389}"/>
              </a:ext>
            </a:extLst>
          </p:cNvPr>
          <p:cNvSpPr>
            <a:spLocks noGrp="1" noChangeAspect="1"/>
          </p:cNvSpPr>
          <p:nvPr>
            <p:ph type="pic" idx="1"/>
          </p:nvPr>
        </p:nvSpPr>
        <p:spPr>
          <a:xfrm>
            <a:off x="5247408" y="919595"/>
            <a:ext cx="6107979" cy="5013614"/>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94B4CE1F-29E0-88BB-8489-E58236B8B17B}"/>
              </a:ext>
            </a:extLst>
          </p:cNvPr>
          <p:cNvSpPr>
            <a:spLocks noGrp="1"/>
          </p:cNvSpPr>
          <p:nvPr>
            <p:ph type="body" sz="half" idx="2"/>
          </p:nvPr>
        </p:nvSpPr>
        <p:spPr>
          <a:xfrm>
            <a:off x="839788" y="3000652"/>
            <a:ext cx="3643889" cy="2868336"/>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24B7212-6816-FFD1-50B2-58844AD38E26}"/>
              </a:ext>
            </a:extLst>
          </p:cNvPr>
          <p:cNvSpPr>
            <a:spLocks noGrp="1"/>
          </p:cNvSpPr>
          <p:nvPr>
            <p:ph type="dt" sz="half" idx="10"/>
          </p:nvPr>
        </p:nvSpPr>
        <p:spPr/>
        <p:txBody>
          <a:bodyPr/>
          <a:lstStyle/>
          <a:p>
            <a:fld id="{352F326D-65F4-4B2F-9A62-9E4BD9402C47}" type="datetimeFigureOut">
              <a:rPr lang="en-US" dirty="0"/>
              <a:t>11/28/2025</a:t>
            </a:fld>
            <a:endParaRPr lang="en-US" dirty="0"/>
          </a:p>
        </p:txBody>
      </p:sp>
      <p:sp>
        <p:nvSpPr>
          <p:cNvPr id="6" name="Footer Placeholder 5">
            <a:extLst>
              <a:ext uri="{FF2B5EF4-FFF2-40B4-BE49-F238E27FC236}">
                <a16:creationId xmlns:a16="http://schemas.microsoft.com/office/drawing/2014/main" id="{A2417744-5A24-B7B7-5FD6-E98E60832F27}"/>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14CDA4D1-A71D-A7A6-3D0C-294E5D280BE8}"/>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13848769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990AE-F72C-4C2E-E2D0-7A8D7EEF08C1}"/>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1F41B46D-142E-8C8E-C4F4-B6B1586A6FD0}"/>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54D92E3-36AD-2615-0166-6B73C34F10FA}"/>
              </a:ext>
            </a:extLst>
          </p:cNvPr>
          <p:cNvSpPr>
            <a:spLocks noGrp="1"/>
          </p:cNvSpPr>
          <p:nvPr>
            <p:ph type="dt" sz="half" idx="10"/>
          </p:nvPr>
        </p:nvSpPr>
        <p:spPr/>
        <p:txBody>
          <a:bodyPr/>
          <a:lstStyle/>
          <a:p>
            <a:fld id="{01742F6F-0846-489A-A4BC-61B476BE2887}" type="datetimeFigureOut">
              <a:rPr lang="en-US" dirty="0"/>
              <a:t>11/28/2025</a:t>
            </a:fld>
            <a:endParaRPr lang="en-US" dirty="0"/>
          </a:p>
        </p:txBody>
      </p:sp>
      <p:sp>
        <p:nvSpPr>
          <p:cNvPr id="5" name="Footer Placeholder 4">
            <a:extLst>
              <a:ext uri="{FF2B5EF4-FFF2-40B4-BE49-F238E27FC236}">
                <a16:creationId xmlns:a16="http://schemas.microsoft.com/office/drawing/2014/main" id="{F10BFB69-319D-2284-2734-217160D396D7}"/>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A6883B0-C775-5BD2-8EC6-A41D19BCA156}"/>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39772722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040463-6D41-8D45-088A-540B0D18838A}"/>
              </a:ext>
            </a:extLst>
          </p:cNvPr>
          <p:cNvSpPr>
            <a:spLocks noGrp="1"/>
          </p:cNvSpPr>
          <p:nvPr>
            <p:ph type="title" orient="vert"/>
          </p:nvPr>
        </p:nvSpPr>
        <p:spPr>
          <a:xfrm>
            <a:off x="8724900" y="592281"/>
            <a:ext cx="2628900" cy="5584681"/>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8B5F2276-7F04-F3F7-E3CE-F81C8DC637DC}"/>
              </a:ext>
            </a:extLst>
          </p:cNvPr>
          <p:cNvSpPr>
            <a:spLocks noGrp="1"/>
          </p:cNvSpPr>
          <p:nvPr>
            <p:ph type="body" orient="vert" idx="1"/>
          </p:nvPr>
        </p:nvSpPr>
        <p:spPr>
          <a:xfrm>
            <a:off x="838200" y="592281"/>
            <a:ext cx="7734300" cy="5584681"/>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71802BF-9E0C-3251-8FAE-81F07DB05344}"/>
              </a:ext>
            </a:extLst>
          </p:cNvPr>
          <p:cNvSpPr>
            <a:spLocks noGrp="1"/>
          </p:cNvSpPr>
          <p:nvPr>
            <p:ph type="dt" sz="half" idx="10"/>
          </p:nvPr>
        </p:nvSpPr>
        <p:spPr/>
        <p:txBody>
          <a:bodyPr/>
          <a:lstStyle/>
          <a:p>
            <a:fld id="{B229DF21-A340-467A-94AB-9502647BB771}" type="datetimeFigureOut">
              <a:rPr lang="en-US" dirty="0"/>
              <a:t>11/28/2025</a:t>
            </a:fld>
            <a:endParaRPr lang="en-US" dirty="0"/>
          </a:p>
        </p:txBody>
      </p:sp>
      <p:sp>
        <p:nvSpPr>
          <p:cNvPr id="5" name="Footer Placeholder 4">
            <a:extLst>
              <a:ext uri="{FF2B5EF4-FFF2-40B4-BE49-F238E27FC236}">
                <a16:creationId xmlns:a16="http://schemas.microsoft.com/office/drawing/2014/main" id="{329F1754-5B8F-A9FA-E8B1-06E04CE283D5}"/>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5F01E6A8-5139-ECD4-CC0C-32FFC6741000}"/>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30922309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5858A62-FE72-978B-BE71-05908D82E1A4}"/>
              </a:ext>
            </a:extLst>
          </p:cNvPr>
          <p:cNvSpPr/>
          <p:nvPr/>
        </p:nvSpPr>
        <p:spPr>
          <a:xfrm>
            <a:off x="0" y="0"/>
            <a:ext cx="12192000" cy="6860161"/>
          </a:xfrm>
          <a:prstGeom prst="rect">
            <a:avLst/>
          </a:prstGeom>
          <a:solidFill>
            <a:schemeClr val="bg2">
              <a:lumMod val="75000"/>
              <a:alpha val="15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sp>
        <p:nvSpPr>
          <p:cNvPr id="2" name="Title Placeholder 1">
            <a:extLst>
              <a:ext uri="{FF2B5EF4-FFF2-40B4-BE49-F238E27FC236}">
                <a16:creationId xmlns:a16="http://schemas.microsoft.com/office/drawing/2014/main" id="{5BFA14B7-4740-5D9F-6489-BAD00C3E0D68}"/>
              </a:ext>
            </a:extLst>
          </p:cNvPr>
          <p:cNvSpPr>
            <a:spLocks noGrp="1"/>
          </p:cNvSpPr>
          <p:nvPr>
            <p:ph type="title"/>
          </p:nvPr>
        </p:nvSpPr>
        <p:spPr>
          <a:xfrm>
            <a:off x="871108" y="588245"/>
            <a:ext cx="10449784" cy="1265928"/>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7790487F-803F-C5AF-BD93-39C0FC738963}"/>
              </a:ext>
            </a:extLst>
          </p:cNvPr>
          <p:cNvSpPr>
            <a:spLocks noGrp="1"/>
          </p:cNvSpPr>
          <p:nvPr>
            <p:ph type="body" idx="1"/>
          </p:nvPr>
        </p:nvSpPr>
        <p:spPr>
          <a:xfrm>
            <a:off x="877824" y="2157984"/>
            <a:ext cx="10442448" cy="390381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586FCEF-4EDF-C2EF-7D81-FEFF7042F350}"/>
              </a:ext>
            </a:extLst>
          </p:cNvPr>
          <p:cNvSpPr>
            <a:spLocks noGrp="1"/>
          </p:cNvSpPr>
          <p:nvPr>
            <p:ph type="dt" sz="half" idx="2"/>
          </p:nvPr>
        </p:nvSpPr>
        <p:spPr>
          <a:xfrm>
            <a:off x="877824" y="6356350"/>
            <a:ext cx="2743200" cy="365125"/>
          </a:xfrm>
          <a:prstGeom prst="rect">
            <a:avLst/>
          </a:prstGeom>
        </p:spPr>
        <p:txBody>
          <a:bodyPr vert="horz" lIns="91440" tIns="45720" rIns="91440" bIns="45720" rtlCol="0" anchor="ctr"/>
          <a:lstStyle>
            <a:lvl1pPr algn="l">
              <a:defRPr sz="800" cap="all" spc="300" baseline="0">
                <a:solidFill>
                  <a:schemeClr val="tx2"/>
                </a:solidFill>
              </a:defRPr>
            </a:lvl1pPr>
          </a:lstStyle>
          <a:p>
            <a:fld id="{F9B0CB28-85DB-480B-8C99-FD493ACC7120}" type="datetimeFigureOut">
              <a:rPr lang="en-US" dirty="0"/>
              <a:t>11/28/2025</a:t>
            </a:fld>
            <a:endParaRPr lang="en-US" dirty="0"/>
          </a:p>
        </p:txBody>
      </p:sp>
      <p:sp>
        <p:nvSpPr>
          <p:cNvPr id="5" name="Footer Placeholder 4">
            <a:extLst>
              <a:ext uri="{FF2B5EF4-FFF2-40B4-BE49-F238E27FC236}">
                <a16:creationId xmlns:a16="http://schemas.microsoft.com/office/drawing/2014/main" id="{9A4663BC-4D46-C74D-DDF2-9D25B4D96F9B}"/>
              </a:ext>
            </a:extLst>
          </p:cNvPr>
          <p:cNvSpPr>
            <a:spLocks noGrp="1"/>
          </p:cNvSpPr>
          <p:nvPr>
            <p:ph type="ftr" sz="quarter" idx="3"/>
          </p:nvPr>
        </p:nvSpPr>
        <p:spPr>
          <a:xfrm>
            <a:off x="7132320" y="6356350"/>
            <a:ext cx="4297680" cy="365125"/>
          </a:xfrm>
          <a:prstGeom prst="rect">
            <a:avLst/>
          </a:prstGeom>
        </p:spPr>
        <p:txBody>
          <a:bodyPr vert="horz" lIns="91440" tIns="45720" rIns="91440" bIns="45720" rtlCol="0" anchor="ctr"/>
          <a:lstStyle>
            <a:lvl1pPr algn="r">
              <a:defRPr sz="800" cap="all" spc="300" baseline="0">
                <a:solidFill>
                  <a:schemeClr val="tx2"/>
                </a:solidFill>
              </a:defRPr>
            </a:lvl1pPr>
          </a:lstStyle>
          <a:p>
            <a:r>
              <a:rPr lang="en-US" dirty="0"/>
              <a:t>
              </a:t>
            </a:r>
          </a:p>
        </p:txBody>
      </p:sp>
      <p:sp>
        <p:nvSpPr>
          <p:cNvPr id="6" name="Slide Number Placeholder 5">
            <a:extLst>
              <a:ext uri="{FF2B5EF4-FFF2-40B4-BE49-F238E27FC236}">
                <a16:creationId xmlns:a16="http://schemas.microsoft.com/office/drawing/2014/main" id="{B71B4EAE-CB5C-D14B-77EF-7B155FA68353}"/>
              </a:ext>
            </a:extLst>
          </p:cNvPr>
          <p:cNvSpPr>
            <a:spLocks noGrp="1"/>
          </p:cNvSpPr>
          <p:nvPr>
            <p:ph type="sldNum" sz="quarter" idx="4"/>
          </p:nvPr>
        </p:nvSpPr>
        <p:spPr>
          <a:xfrm>
            <a:off x="11429999" y="6356350"/>
            <a:ext cx="521207" cy="365125"/>
          </a:xfrm>
          <a:prstGeom prst="rect">
            <a:avLst/>
          </a:prstGeom>
        </p:spPr>
        <p:txBody>
          <a:bodyPr vert="horz" lIns="91440" tIns="45720" rIns="91440" bIns="45720" rtlCol="0" anchor="ctr"/>
          <a:lstStyle>
            <a:lvl1pPr algn="r">
              <a:defRPr sz="1400">
                <a:solidFill>
                  <a:schemeClr val="tx2"/>
                </a:solidFill>
                <a:latin typeface="+mj-lt"/>
              </a:defRPr>
            </a:lvl1pPr>
          </a:lstStyle>
          <a:p>
            <a:fld id="{5E4DE196-8A13-4FF7-A07E-102851959EAB}" type="slidenum">
              <a:rPr lang="en-US" dirty="0"/>
              <a:pPr/>
              <a:t>‹#›</a:t>
            </a:fld>
            <a:endParaRPr lang="en-US" dirty="0"/>
          </a:p>
        </p:txBody>
      </p:sp>
    </p:spTree>
    <p:extLst>
      <p:ext uri="{BB962C8B-B14F-4D97-AF65-F5344CB8AC3E}">
        <p14:creationId xmlns:p14="http://schemas.microsoft.com/office/powerpoint/2010/main" val="2448725687"/>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p:txStyles>
    <p:titleStyle>
      <a:lvl1pPr algn="l" defTabSz="914400" rtl="0" eaLnBrk="1" latinLnBrk="0" hangingPunct="1">
        <a:lnSpc>
          <a:spcPct val="100000"/>
        </a:lnSpc>
        <a:spcBef>
          <a:spcPct val="0"/>
        </a:spcBef>
        <a:buNone/>
        <a:defRPr sz="3200" kern="120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600" kern="1200">
          <a:solidFill>
            <a:schemeClr val="tx2"/>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100" kern="1200">
          <a:solidFill>
            <a:schemeClr val="tx2"/>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userDrawn="1">
          <p15:clr>
            <a:srgbClr val="F26B43"/>
          </p15:clr>
        </p15:guide>
        <p15:guide id="4" pos="3840" userDrawn="1">
          <p15:clr>
            <a:srgbClr val="F26B43"/>
          </p15:clr>
        </p15:guide>
        <p15:guide id="5" orient="horz" pos="3816" userDrawn="1">
          <p15:clr>
            <a:srgbClr val="F26B43"/>
          </p15:clr>
        </p15:guide>
        <p15:guide id="6" orient="horz" pos="117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8036163-AA3E-A881-776A-402A1F285E80}"/>
              </a:ext>
            </a:extLst>
          </p:cNvPr>
          <p:cNvSpPr>
            <a:spLocks noGrp="1"/>
          </p:cNvSpPr>
          <p:nvPr>
            <p:ph type="title"/>
          </p:nvPr>
        </p:nvSpPr>
        <p:spPr>
          <a:xfrm>
            <a:off x="839788" y="820881"/>
            <a:ext cx="3639312" cy="2062595"/>
          </a:xfrm>
        </p:spPr>
        <p:txBody>
          <a:bodyPr vert="horz" lIns="91440" tIns="45720" rIns="91440" bIns="45720" rtlCol="0" anchor="t">
            <a:noAutofit/>
          </a:bodyPr>
          <a:lstStyle/>
          <a:p>
            <a:r>
              <a:rPr lang="en-US" sz="3000" i="1" dirty="0">
                <a:latin typeface="Walbaum Display"/>
              </a:rPr>
              <a:t>Exploration of Blackmail Scam and Creation of Scammer's Codebook</a:t>
            </a:r>
            <a:endParaRPr lang="en-US" sz="3000">
              <a:solidFill>
                <a:srgbClr val="000000"/>
              </a:solidFill>
              <a:latin typeface="Walbaum Display"/>
            </a:endParaRPr>
          </a:p>
          <a:p>
            <a:endParaRPr lang="en-US" dirty="0"/>
          </a:p>
        </p:txBody>
      </p:sp>
      <p:pic>
        <p:nvPicPr>
          <p:cNvPr id="2" name="Picture 1" descr="A person sitting at a computer&#10;&#10;AI-generated content may be incorrect.">
            <a:extLst>
              <a:ext uri="{FF2B5EF4-FFF2-40B4-BE49-F238E27FC236}">
                <a16:creationId xmlns:a16="http://schemas.microsoft.com/office/drawing/2014/main" id="{83CF03A1-656F-2AAA-9FFB-0DFEF494DDA4}"/>
              </a:ext>
            </a:extLst>
          </p:cNvPr>
          <p:cNvPicPr>
            <a:picLocks noChangeAspect="1"/>
          </p:cNvPicPr>
          <p:nvPr/>
        </p:nvPicPr>
        <p:blipFill>
          <a:blip r:embed="rId2">
            <a:extLst>
              <a:ext uri="{BEBA8EAE-BF5A-486C-A8C5-ECC9F3942E4B}">
                <a14:imgProps xmlns:a14="http://schemas.microsoft.com/office/drawing/2010/main">
                  <a14:imgLayer r:embed="rId3">
                    <a14:imgEffect>
                      <a14:saturation sat="104000"/>
                    </a14:imgEffect>
                    <a14:imgEffect>
                      <a14:brightnessContrast bright="60000" contrast="37000"/>
                    </a14:imgEffect>
                  </a14:imgLayer>
                </a14:imgProps>
              </a:ext>
            </a:extLst>
          </a:blip>
          <a:stretch>
            <a:fillRect/>
          </a:stretch>
        </p:blipFill>
        <p:spPr>
          <a:xfrm>
            <a:off x="5247408" y="1387864"/>
            <a:ext cx="6107979" cy="4077075"/>
          </a:xfrm>
          <a:prstGeom prst="rect">
            <a:avLst/>
          </a:prstGeom>
          <a:noFill/>
        </p:spPr>
      </p:pic>
      <p:sp>
        <p:nvSpPr>
          <p:cNvPr id="6" name="TextBox 5">
            <a:extLst>
              <a:ext uri="{FF2B5EF4-FFF2-40B4-BE49-F238E27FC236}">
                <a16:creationId xmlns:a16="http://schemas.microsoft.com/office/drawing/2014/main" id="{06E72BA4-3FB9-173C-7C0A-EC866AC3C9D8}"/>
              </a:ext>
            </a:extLst>
          </p:cNvPr>
          <p:cNvSpPr txBox="1"/>
          <p:nvPr/>
        </p:nvSpPr>
        <p:spPr>
          <a:xfrm>
            <a:off x="839788" y="3551494"/>
            <a:ext cx="3643889" cy="2436843"/>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Autofit/>
          </a:bodyPr>
          <a:lstStyle/>
          <a:p>
            <a:pPr>
              <a:lnSpc>
                <a:spcPct val="110000"/>
              </a:lnSpc>
              <a:spcBef>
                <a:spcPts val="1000"/>
              </a:spcBef>
            </a:pPr>
            <a:r>
              <a:rPr lang="en-US" sz="1400" kern="1200" dirty="0">
                <a:solidFill>
                  <a:schemeClr val="tx2"/>
                </a:solidFill>
                <a:latin typeface="+mn-lt"/>
                <a:ea typeface="+mn-ea"/>
                <a:cs typeface="+mn-cs"/>
              </a:rPr>
              <a:t>By: Chloe' Robinson</a:t>
            </a:r>
            <a:endParaRPr lang="en-US" sz="1400" kern="1200" dirty="0">
              <a:solidFill>
                <a:schemeClr val="tx2"/>
              </a:solidFill>
              <a:latin typeface="+mn-lt"/>
            </a:endParaRPr>
          </a:p>
          <a:p>
            <a:pPr>
              <a:lnSpc>
                <a:spcPct val="110000"/>
              </a:lnSpc>
              <a:spcBef>
                <a:spcPts val="1000"/>
              </a:spcBef>
            </a:pPr>
            <a:r>
              <a:rPr lang="en-US" sz="1400" kern="1200" dirty="0">
                <a:solidFill>
                  <a:schemeClr val="tx2"/>
                </a:solidFill>
                <a:latin typeface="+mn-lt"/>
                <a:ea typeface="+mn-ea"/>
                <a:cs typeface="+mn-cs"/>
              </a:rPr>
              <a:t>Major: Computer Science ~ Cyber Security</a:t>
            </a:r>
            <a:endParaRPr lang="en-US" sz="1400" kern="1200" dirty="0">
              <a:solidFill>
                <a:schemeClr val="tx2"/>
              </a:solidFill>
              <a:latin typeface="+mn-lt"/>
            </a:endParaRPr>
          </a:p>
          <a:p>
            <a:pPr>
              <a:lnSpc>
                <a:spcPct val="110000"/>
              </a:lnSpc>
              <a:spcBef>
                <a:spcPts val="1000"/>
              </a:spcBef>
            </a:pPr>
            <a:r>
              <a:rPr lang="en-US" sz="1400" kern="1200" dirty="0">
                <a:solidFill>
                  <a:schemeClr val="tx2"/>
                </a:solidFill>
                <a:latin typeface="+mn-lt"/>
                <a:ea typeface="+mn-ea"/>
                <a:cs typeface="+mn-cs"/>
              </a:rPr>
              <a:t>Mentor: Dr. Bhupendra Acharya</a:t>
            </a:r>
            <a:endParaRPr lang="en-US" sz="1400" kern="1200" dirty="0">
              <a:solidFill>
                <a:schemeClr val="tx2"/>
              </a:solidFill>
              <a:latin typeface="+mn-lt"/>
            </a:endParaRPr>
          </a:p>
          <a:p>
            <a:pPr>
              <a:lnSpc>
                <a:spcPct val="110000"/>
              </a:lnSpc>
              <a:spcBef>
                <a:spcPts val="1000"/>
              </a:spcBef>
            </a:pPr>
            <a:r>
              <a:rPr lang="en-US" sz="1400" kern="1200" dirty="0">
                <a:solidFill>
                  <a:schemeClr val="tx2"/>
                </a:solidFill>
                <a:latin typeface="+mn-lt"/>
                <a:ea typeface="+mn-ea"/>
                <a:cs typeface="+mn-cs"/>
              </a:rPr>
              <a:t>McNair Scholar Program &amp; APRIORI Center</a:t>
            </a:r>
            <a:endParaRPr lang="en-US" sz="1400" kern="1200" dirty="0">
              <a:solidFill>
                <a:schemeClr val="tx2"/>
              </a:solidFill>
              <a:latin typeface="+mn-lt"/>
            </a:endParaRPr>
          </a:p>
          <a:p>
            <a:pPr>
              <a:lnSpc>
                <a:spcPct val="110000"/>
              </a:lnSpc>
              <a:spcBef>
                <a:spcPts val="1000"/>
              </a:spcBef>
            </a:pPr>
            <a:r>
              <a:rPr lang="en-US" sz="1400" kern="1200" dirty="0">
                <a:solidFill>
                  <a:schemeClr val="tx2"/>
                </a:solidFill>
                <a:latin typeface="+mn-lt"/>
                <a:ea typeface="+mn-ea"/>
                <a:cs typeface="+mn-cs"/>
              </a:rPr>
              <a:t>December 3rd, 2025</a:t>
            </a:r>
            <a:endParaRPr lang="en-US" sz="1400" kern="1200" dirty="0">
              <a:solidFill>
                <a:schemeClr val="tx2"/>
              </a:solidFill>
              <a:latin typeface="+mn-lt"/>
            </a:endParaRPr>
          </a:p>
          <a:p>
            <a:pPr>
              <a:lnSpc>
                <a:spcPct val="110000"/>
              </a:lnSpc>
              <a:spcBef>
                <a:spcPts val="1000"/>
              </a:spcBef>
            </a:pPr>
            <a:endParaRPr lang="en-US" sz="1200" kern="1200" dirty="0">
              <a:solidFill>
                <a:schemeClr val="tx2"/>
              </a:solidFill>
              <a:latin typeface="+mn-lt"/>
            </a:endParaRPr>
          </a:p>
        </p:txBody>
      </p:sp>
      <p:sp>
        <p:nvSpPr>
          <p:cNvPr id="13" name="Date Placeholder 4">
            <a:extLst>
              <a:ext uri="{FF2B5EF4-FFF2-40B4-BE49-F238E27FC236}">
                <a16:creationId xmlns:a16="http://schemas.microsoft.com/office/drawing/2014/main" id="{3691AD59-4C2D-D386-DA4A-1CE575EA8510}"/>
              </a:ext>
            </a:extLst>
          </p:cNvPr>
          <p:cNvSpPr>
            <a:spLocks noGrp="1"/>
          </p:cNvSpPr>
          <p:nvPr>
            <p:ph type="dt" sz="half" idx="10"/>
          </p:nvPr>
        </p:nvSpPr>
        <p:spPr>
          <a:xfrm>
            <a:off x="877824" y="6356350"/>
            <a:ext cx="2743200" cy="365125"/>
          </a:xfrm>
        </p:spPr>
        <p:txBody>
          <a:bodyPr/>
          <a:lstStyle/>
          <a:p>
            <a:pPr>
              <a:spcAft>
                <a:spcPts val="600"/>
              </a:spcAft>
            </a:pPr>
            <a:fld id="{72326EA2-5735-4B8A-B810-218FFCD4BEA5}" type="datetime1">
              <a:pPr>
                <a:spcAft>
                  <a:spcPts val="600"/>
                </a:spcAft>
              </a:pPr>
              <a:t>11/28/2025</a:t>
            </a:fld>
            <a:endParaRPr lang="en-US"/>
          </a:p>
        </p:txBody>
      </p:sp>
      <p:sp>
        <p:nvSpPr>
          <p:cNvPr id="15" name="Footer Placeholder 5">
            <a:extLst>
              <a:ext uri="{FF2B5EF4-FFF2-40B4-BE49-F238E27FC236}">
                <a16:creationId xmlns:a16="http://schemas.microsoft.com/office/drawing/2014/main" id="{2B58448D-F734-A7A3-1AB6-3F2656F0399F}"/>
              </a:ext>
            </a:extLst>
          </p:cNvPr>
          <p:cNvSpPr>
            <a:spLocks noGrp="1"/>
          </p:cNvSpPr>
          <p:nvPr>
            <p:ph type="ftr" sz="quarter" idx="11"/>
          </p:nvPr>
        </p:nvSpPr>
        <p:spPr>
          <a:xfrm>
            <a:off x="7132320" y="6356350"/>
            <a:ext cx="4297680" cy="365125"/>
          </a:xfrm>
        </p:spPr>
        <p:txBody>
          <a:bodyPr/>
          <a:lstStyle/>
          <a:p>
            <a:pPr>
              <a:spcAft>
                <a:spcPts val="600"/>
              </a:spcAft>
            </a:pPr>
            <a:r>
              <a:rPr lang="en-US"/>
              <a:t>
              </a:t>
            </a:r>
          </a:p>
        </p:txBody>
      </p:sp>
      <p:sp>
        <p:nvSpPr>
          <p:cNvPr id="17" name="Slide Number Placeholder 6">
            <a:extLst>
              <a:ext uri="{FF2B5EF4-FFF2-40B4-BE49-F238E27FC236}">
                <a16:creationId xmlns:a16="http://schemas.microsoft.com/office/drawing/2014/main" id="{BF1197CC-26FA-B27C-4066-6ECA634A4628}"/>
              </a:ext>
            </a:extLst>
          </p:cNvPr>
          <p:cNvSpPr>
            <a:spLocks noGrp="1"/>
          </p:cNvSpPr>
          <p:nvPr>
            <p:ph type="sldNum" sz="quarter" idx="12"/>
          </p:nvPr>
        </p:nvSpPr>
        <p:spPr>
          <a:xfrm>
            <a:off x="11429999" y="6356350"/>
            <a:ext cx="521207" cy="365125"/>
          </a:xfrm>
        </p:spPr>
        <p:txBody>
          <a:bodyPr/>
          <a:lstStyle/>
          <a:p>
            <a:pPr>
              <a:spcAft>
                <a:spcPts val="600"/>
              </a:spcAft>
            </a:pPr>
            <a:fld id="{5E4DE196-8A13-4FF7-A07E-102851959EAB}" type="slidenum">
              <a:rPr lang="en-US" dirty="0"/>
              <a:pPr>
                <a:spcAft>
                  <a:spcPts val="600"/>
                </a:spcAft>
              </a:pPr>
              <a:t>1</a:t>
            </a:fld>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F07E4-80A2-22A4-05BD-5D529070D81F}"/>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AA4C265C-DA2B-3BE9-22A9-322D5A807615}"/>
              </a:ext>
            </a:extLst>
          </p:cNvPr>
          <p:cNvSpPr>
            <a:spLocks noGrp="1"/>
          </p:cNvSpPr>
          <p:nvPr>
            <p:ph idx="1"/>
          </p:nvPr>
        </p:nvSpPr>
        <p:spPr/>
        <p:txBody>
          <a:bodyPr vert="horz" lIns="91440" tIns="45720" rIns="91440" bIns="45720" rtlCol="0" anchor="t">
            <a:normAutofit/>
          </a:bodyPr>
          <a:lstStyle/>
          <a:p>
            <a:pPr>
              <a:buFont typeface="Calibri" panose="020B0604020202020204" pitchFamily="34" charset="0"/>
              <a:buChar char="-"/>
            </a:pPr>
            <a:r>
              <a:rPr lang="en-US" dirty="0"/>
              <a:t>Blackmail scamming is popular yet understudied which made a great starting section for the code book</a:t>
            </a:r>
          </a:p>
          <a:p>
            <a:pPr>
              <a:buFont typeface="Calibri" panose="020B0604020202020204" pitchFamily="34" charset="0"/>
              <a:buChar char="-"/>
            </a:pPr>
            <a:r>
              <a:rPr lang="en-US" dirty="0"/>
              <a:t>What is a scammer's code book? </a:t>
            </a:r>
          </a:p>
          <a:p>
            <a:pPr lvl="1">
              <a:buFont typeface="Courier New" panose="020B0604020202020204" pitchFamily="34" charset="0"/>
              <a:buChar char="o"/>
            </a:pPr>
            <a:r>
              <a:rPr lang="en-US" dirty="0"/>
              <a:t>A resource that can used to see what to look out for in a scam based on a scammer's POV</a:t>
            </a:r>
            <a:endParaRPr lang="en-US"/>
          </a:p>
          <a:p>
            <a:pPr>
              <a:buFont typeface="Calibri" panose="020B0604020202020204" pitchFamily="34" charset="0"/>
              <a:buChar char="-"/>
            </a:pPr>
            <a:r>
              <a:rPr lang="en-US" dirty="0"/>
              <a:t>A lot of people fall victim to these scams because they don't know what to do in such a situation. So, to help people to not become victim, they will need something that tells them "this isn't right" or "red flag!!!"</a:t>
            </a:r>
          </a:p>
          <a:p>
            <a:pPr>
              <a:buFont typeface="Calibri" panose="020B0604020202020204" pitchFamily="34" charset="0"/>
              <a:buChar char="-"/>
            </a:pPr>
            <a:r>
              <a:rPr lang="en-US" dirty="0"/>
              <a:t>To do this, I created a code book that tells a person what to look out for, what are the signs, and what to expect</a:t>
            </a:r>
          </a:p>
          <a:p>
            <a:pPr>
              <a:buFont typeface="Calibri" panose="020B0604020202020204" pitchFamily="34" charset="0"/>
              <a:buChar char="-"/>
            </a:pPr>
            <a:r>
              <a:rPr lang="en-US" dirty="0"/>
              <a:t>Many people have seen resources that tells them what victims went through and their experience and use that as a guide. But what about a guide that came from the source itself? A guide that tells you what to look out for through the scammers themselves?</a:t>
            </a:r>
          </a:p>
        </p:txBody>
      </p:sp>
      <p:sp>
        <p:nvSpPr>
          <p:cNvPr id="4" name="Date Placeholder 3">
            <a:extLst>
              <a:ext uri="{FF2B5EF4-FFF2-40B4-BE49-F238E27FC236}">
                <a16:creationId xmlns:a16="http://schemas.microsoft.com/office/drawing/2014/main" id="{5C87500F-FDDD-CB89-F667-F1D01007F510}"/>
              </a:ext>
            </a:extLst>
          </p:cNvPr>
          <p:cNvSpPr>
            <a:spLocks noGrp="1"/>
          </p:cNvSpPr>
          <p:nvPr>
            <p:ph type="dt" sz="half" idx="10"/>
          </p:nvPr>
        </p:nvSpPr>
        <p:spPr/>
        <p:txBody>
          <a:bodyPr/>
          <a:lstStyle/>
          <a:p>
            <a:fld id="{92162D7C-4D29-4872-AF20-AAA60C0EDB40}" type="datetime1">
              <a:t>11/28/2025</a:t>
            </a:fld>
            <a:endParaRPr lang="en-US" dirty="0"/>
          </a:p>
        </p:txBody>
      </p:sp>
      <p:sp>
        <p:nvSpPr>
          <p:cNvPr id="5" name="Footer Placeholder 4">
            <a:extLst>
              <a:ext uri="{FF2B5EF4-FFF2-40B4-BE49-F238E27FC236}">
                <a16:creationId xmlns:a16="http://schemas.microsoft.com/office/drawing/2014/main" id="{0AAC9288-C1CF-CDA1-E004-E72C4667F036}"/>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33A3B69-3F4E-F25A-2373-59DB4D42ACF4}"/>
              </a:ext>
            </a:extLst>
          </p:cNvPr>
          <p:cNvSpPr>
            <a:spLocks noGrp="1"/>
          </p:cNvSpPr>
          <p:nvPr>
            <p:ph type="sldNum" sz="quarter" idx="12"/>
          </p:nvPr>
        </p:nvSpPr>
        <p:spPr/>
        <p:txBody>
          <a:bodyPr/>
          <a:lstStyle/>
          <a:p>
            <a:fld id="{5E4DE196-8A13-4FF7-A07E-102851959EAB}" type="slidenum">
              <a:rPr lang="en-US" dirty="0"/>
              <a:t>2</a:t>
            </a:fld>
            <a:endParaRPr lang="en-US" dirty="0"/>
          </a:p>
        </p:txBody>
      </p:sp>
      <p:pic>
        <p:nvPicPr>
          <p:cNvPr id="7" name="Graphic 6" descr="Open book outline">
            <a:extLst>
              <a:ext uri="{FF2B5EF4-FFF2-40B4-BE49-F238E27FC236}">
                <a16:creationId xmlns:a16="http://schemas.microsoft.com/office/drawing/2014/main" id="{50181C30-F888-1607-C19F-33D7DCE0D2F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001723" y="-1426"/>
            <a:ext cx="2438400" cy="2438400"/>
          </a:xfrm>
          <a:prstGeom prst="rect">
            <a:avLst/>
          </a:prstGeom>
        </p:spPr>
      </p:pic>
    </p:spTree>
    <p:extLst>
      <p:ext uri="{BB962C8B-B14F-4D97-AF65-F5344CB8AC3E}">
        <p14:creationId xmlns:p14="http://schemas.microsoft.com/office/powerpoint/2010/main" val="9220974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52333-2605-14FF-1D88-E4A494CA8399}"/>
              </a:ext>
            </a:extLst>
          </p:cNvPr>
          <p:cNvSpPr>
            <a:spLocks noGrp="1"/>
          </p:cNvSpPr>
          <p:nvPr>
            <p:ph type="title"/>
          </p:nvPr>
        </p:nvSpPr>
        <p:spPr/>
        <p:txBody>
          <a:bodyPr/>
          <a:lstStyle/>
          <a:p>
            <a:r>
              <a:rPr lang="en-US" dirty="0"/>
              <a:t>Research Questions</a:t>
            </a:r>
          </a:p>
        </p:txBody>
      </p:sp>
      <p:sp>
        <p:nvSpPr>
          <p:cNvPr id="3" name="Content Placeholder 2">
            <a:extLst>
              <a:ext uri="{FF2B5EF4-FFF2-40B4-BE49-F238E27FC236}">
                <a16:creationId xmlns:a16="http://schemas.microsoft.com/office/drawing/2014/main" id="{DEED4153-F58B-0B90-6365-E35F5AA33EF7}"/>
              </a:ext>
            </a:extLst>
          </p:cNvPr>
          <p:cNvSpPr>
            <a:spLocks noGrp="1"/>
          </p:cNvSpPr>
          <p:nvPr>
            <p:ph idx="1"/>
          </p:nvPr>
        </p:nvSpPr>
        <p:spPr/>
        <p:txBody>
          <a:bodyPr vert="horz" lIns="91440" tIns="45720" rIns="91440" bIns="45720" rtlCol="0" anchor="t">
            <a:normAutofit/>
          </a:bodyPr>
          <a:lstStyle/>
          <a:p>
            <a:r>
              <a:rPr lang="en-US" sz="2000" dirty="0"/>
              <a:t>For this research, I had the following questions I wanted to answer:</a:t>
            </a:r>
          </a:p>
          <a:p>
            <a:pPr marL="571500" lvl="1" indent="-342900">
              <a:buAutoNum type="arabicPeriod"/>
            </a:pPr>
            <a:r>
              <a:rPr lang="en-US" sz="1700" dirty="0">
                <a:ea typeface="+mn-lt"/>
                <a:cs typeface="+mn-lt"/>
              </a:rPr>
              <a:t>Why do blackmail scammers scam people? What motivates them, and what psychological or economic drives influence their </a:t>
            </a:r>
            <a:r>
              <a:rPr lang="en-US" sz="1700">
                <a:ea typeface="+mn-lt"/>
                <a:cs typeface="+mn-lt"/>
              </a:rPr>
              <a:t>behavior?</a:t>
            </a:r>
            <a:endParaRPr lang="en-US" sz="1700" dirty="0">
              <a:ea typeface="+mn-lt"/>
              <a:cs typeface="+mn-lt"/>
            </a:endParaRPr>
          </a:p>
          <a:p>
            <a:pPr marL="571500" lvl="1" indent="-342900">
              <a:buAutoNum type="arabicPeriod"/>
            </a:pPr>
            <a:r>
              <a:rPr lang="en-US" sz="1700" dirty="0">
                <a:ea typeface="+mn-lt"/>
                <a:cs typeface="+mn-lt"/>
              </a:rPr>
              <a:t>How do blackmail scammers conduct their attacks? What communication strategies, threat patterns, or persuasive tactics are the most commonly used?</a:t>
            </a:r>
          </a:p>
          <a:p>
            <a:pPr marL="571500" lvl="1" indent="-342900">
              <a:buAutoNum type="arabicPeriod"/>
            </a:pPr>
            <a:r>
              <a:rPr lang="en-US" sz="1700" dirty="0">
                <a:ea typeface="+mn-lt"/>
                <a:cs typeface="+mn-lt"/>
              </a:rPr>
              <a:t>Who is the ideal target or audience? What characteristics, behaviors, or vulnerabilities of the victim are the most frequently exploited?</a:t>
            </a:r>
            <a:endParaRPr lang="en-US" sz="1700"/>
          </a:p>
        </p:txBody>
      </p:sp>
      <p:sp>
        <p:nvSpPr>
          <p:cNvPr id="4" name="Date Placeholder 3">
            <a:extLst>
              <a:ext uri="{FF2B5EF4-FFF2-40B4-BE49-F238E27FC236}">
                <a16:creationId xmlns:a16="http://schemas.microsoft.com/office/drawing/2014/main" id="{3D958A17-1215-3334-71C1-D54F10CF1791}"/>
              </a:ext>
            </a:extLst>
          </p:cNvPr>
          <p:cNvSpPr>
            <a:spLocks noGrp="1"/>
          </p:cNvSpPr>
          <p:nvPr>
            <p:ph type="dt" sz="half" idx="10"/>
          </p:nvPr>
        </p:nvSpPr>
        <p:spPr/>
        <p:txBody>
          <a:bodyPr/>
          <a:lstStyle/>
          <a:p>
            <a:fld id="{61B4F913-4191-4DF8-AA9E-9E25864381ED}" type="datetime1">
              <a:t>11/28/2025</a:t>
            </a:fld>
            <a:endParaRPr lang="en-US" dirty="0"/>
          </a:p>
        </p:txBody>
      </p:sp>
      <p:sp>
        <p:nvSpPr>
          <p:cNvPr id="5" name="Footer Placeholder 4">
            <a:extLst>
              <a:ext uri="{FF2B5EF4-FFF2-40B4-BE49-F238E27FC236}">
                <a16:creationId xmlns:a16="http://schemas.microsoft.com/office/drawing/2014/main" id="{DD78CE1B-0B27-7D4F-EE7D-8D9E2205039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65CD8EC5-2FBA-DC4B-0A9D-224B73EB16DD}"/>
              </a:ext>
            </a:extLst>
          </p:cNvPr>
          <p:cNvSpPr>
            <a:spLocks noGrp="1"/>
          </p:cNvSpPr>
          <p:nvPr>
            <p:ph type="sldNum" sz="quarter" idx="12"/>
          </p:nvPr>
        </p:nvSpPr>
        <p:spPr/>
        <p:txBody>
          <a:bodyPr/>
          <a:lstStyle/>
          <a:p>
            <a:fld id="{5E4DE196-8A13-4FF7-A07E-102851959EAB}" type="slidenum">
              <a:rPr lang="en-US" dirty="0"/>
              <a:t>3</a:t>
            </a:fld>
            <a:endParaRPr lang="en-US" dirty="0"/>
          </a:p>
        </p:txBody>
      </p:sp>
    </p:spTree>
    <p:extLst>
      <p:ext uri="{BB962C8B-B14F-4D97-AF65-F5344CB8AC3E}">
        <p14:creationId xmlns:p14="http://schemas.microsoft.com/office/powerpoint/2010/main" val="35146551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5E71C-BB4C-D755-2563-7E0E5EE4DA14}"/>
              </a:ext>
            </a:extLst>
          </p:cNvPr>
          <p:cNvSpPr>
            <a:spLocks noGrp="1"/>
          </p:cNvSpPr>
          <p:nvPr>
            <p:ph type="title"/>
          </p:nvPr>
        </p:nvSpPr>
        <p:spPr/>
        <p:txBody>
          <a:bodyPr/>
          <a:lstStyle/>
          <a:p>
            <a:r>
              <a:rPr lang="en-US" dirty="0"/>
              <a:t>Purpose/Significance</a:t>
            </a:r>
          </a:p>
        </p:txBody>
      </p:sp>
      <p:sp>
        <p:nvSpPr>
          <p:cNvPr id="3" name="Content Placeholder 2">
            <a:extLst>
              <a:ext uri="{FF2B5EF4-FFF2-40B4-BE49-F238E27FC236}">
                <a16:creationId xmlns:a16="http://schemas.microsoft.com/office/drawing/2014/main" id="{0F1F4267-CF22-E14D-14FD-EAB1F0C0CD06}"/>
              </a:ext>
            </a:extLst>
          </p:cNvPr>
          <p:cNvSpPr>
            <a:spLocks noGrp="1"/>
          </p:cNvSpPr>
          <p:nvPr>
            <p:ph idx="1"/>
          </p:nvPr>
        </p:nvSpPr>
        <p:spPr/>
        <p:txBody>
          <a:bodyPr vert="horz" lIns="91440" tIns="45720" rIns="91440" bIns="45720" rtlCol="0" anchor="t">
            <a:normAutofit/>
          </a:bodyPr>
          <a:lstStyle/>
          <a:p>
            <a:r>
              <a:rPr lang="en-US" dirty="0"/>
              <a:t>Why did I pick this? Have you ever heard of someone getting a "how-to" guide about scamming from a scammer? I never thought of getting information from the source in this scenario.</a:t>
            </a:r>
          </a:p>
          <a:p>
            <a:r>
              <a:rPr lang="en-US" dirty="0"/>
              <a:t>Getting this information can help a lot of people.  It can be a great resource for many people use including cyber intelligence/expert companies or other types of companies, researchers, or even the government</a:t>
            </a:r>
          </a:p>
          <a:p>
            <a:r>
              <a:rPr lang="en-US" dirty="0"/>
              <a:t>This research can show us a new world that needs to be discovered</a:t>
            </a:r>
          </a:p>
          <a:p>
            <a:r>
              <a:rPr lang="en-US" dirty="0"/>
              <a:t>The future is getting into more technology, and this can cause an uprising of scamming. We will need to know how the scammers can operate and do what they do</a:t>
            </a:r>
          </a:p>
          <a:p>
            <a:r>
              <a:rPr lang="en-US" dirty="0"/>
              <a:t>Many authors and researchers have dealt with blackmail scamming, and they mainly focus on the victims and their stories. My research can collab with theirs by showing the other side of those stories. The scammers' stories.</a:t>
            </a:r>
          </a:p>
        </p:txBody>
      </p:sp>
      <p:sp>
        <p:nvSpPr>
          <p:cNvPr id="4" name="Date Placeholder 3">
            <a:extLst>
              <a:ext uri="{FF2B5EF4-FFF2-40B4-BE49-F238E27FC236}">
                <a16:creationId xmlns:a16="http://schemas.microsoft.com/office/drawing/2014/main" id="{0DA1E223-B7B6-9EFC-9FCB-6D62766DA3F6}"/>
              </a:ext>
            </a:extLst>
          </p:cNvPr>
          <p:cNvSpPr>
            <a:spLocks noGrp="1"/>
          </p:cNvSpPr>
          <p:nvPr>
            <p:ph type="dt" sz="half" idx="10"/>
          </p:nvPr>
        </p:nvSpPr>
        <p:spPr/>
        <p:txBody>
          <a:bodyPr/>
          <a:lstStyle/>
          <a:p>
            <a:fld id="{DD6352B0-04DF-447E-AE46-9EF2C6A37799}" type="datetime1">
              <a:t>11/28/2025</a:t>
            </a:fld>
            <a:endParaRPr lang="en-US" dirty="0"/>
          </a:p>
        </p:txBody>
      </p:sp>
      <p:sp>
        <p:nvSpPr>
          <p:cNvPr id="5" name="Footer Placeholder 4">
            <a:extLst>
              <a:ext uri="{FF2B5EF4-FFF2-40B4-BE49-F238E27FC236}">
                <a16:creationId xmlns:a16="http://schemas.microsoft.com/office/drawing/2014/main" id="{9ED47BB7-6D8C-A19A-79C8-33254F9D07AB}"/>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75825C25-F27E-4406-45E7-61398E3C960B}"/>
              </a:ext>
            </a:extLst>
          </p:cNvPr>
          <p:cNvSpPr>
            <a:spLocks noGrp="1"/>
          </p:cNvSpPr>
          <p:nvPr>
            <p:ph type="sldNum" sz="quarter" idx="12"/>
          </p:nvPr>
        </p:nvSpPr>
        <p:spPr/>
        <p:txBody>
          <a:bodyPr/>
          <a:lstStyle/>
          <a:p>
            <a:fld id="{5E4DE196-8A13-4FF7-A07E-102851959EAB}" type="slidenum">
              <a:rPr lang="en-US" dirty="0"/>
              <a:t>4</a:t>
            </a:fld>
            <a:endParaRPr lang="en-US" dirty="0"/>
          </a:p>
        </p:txBody>
      </p:sp>
    </p:spTree>
    <p:extLst>
      <p:ext uri="{BB962C8B-B14F-4D97-AF65-F5344CB8AC3E}">
        <p14:creationId xmlns:p14="http://schemas.microsoft.com/office/powerpoint/2010/main" val="3995596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63CDF-74CB-B606-EC6B-35C8CAC9F4DA}"/>
              </a:ext>
            </a:extLst>
          </p:cNvPr>
          <p:cNvSpPr>
            <a:spLocks noGrp="1"/>
          </p:cNvSpPr>
          <p:nvPr>
            <p:ph type="title"/>
          </p:nvPr>
        </p:nvSpPr>
        <p:spPr/>
        <p:txBody>
          <a:bodyPr/>
          <a:lstStyle/>
          <a:p>
            <a:r>
              <a:rPr lang="en-US" dirty="0"/>
              <a:t>Methodology</a:t>
            </a:r>
          </a:p>
        </p:txBody>
      </p:sp>
      <p:sp>
        <p:nvSpPr>
          <p:cNvPr id="4" name="Date Placeholder 3">
            <a:extLst>
              <a:ext uri="{FF2B5EF4-FFF2-40B4-BE49-F238E27FC236}">
                <a16:creationId xmlns:a16="http://schemas.microsoft.com/office/drawing/2014/main" id="{40C697B5-DCAB-D903-C98C-E21F1F76E7FD}"/>
              </a:ext>
            </a:extLst>
          </p:cNvPr>
          <p:cNvSpPr>
            <a:spLocks noGrp="1"/>
          </p:cNvSpPr>
          <p:nvPr>
            <p:ph type="dt" sz="half" idx="10"/>
          </p:nvPr>
        </p:nvSpPr>
        <p:spPr/>
        <p:txBody>
          <a:bodyPr/>
          <a:lstStyle/>
          <a:p>
            <a:fld id="{4CDB6BD8-76DF-41E6-8A67-63A137253AE4}" type="datetime1">
              <a:t>11/28/2025</a:t>
            </a:fld>
            <a:endParaRPr lang="en-US" dirty="0"/>
          </a:p>
        </p:txBody>
      </p:sp>
      <p:sp>
        <p:nvSpPr>
          <p:cNvPr id="5" name="Footer Placeholder 4">
            <a:extLst>
              <a:ext uri="{FF2B5EF4-FFF2-40B4-BE49-F238E27FC236}">
                <a16:creationId xmlns:a16="http://schemas.microsoft.com/office/drawing/2014/main" id="{2FAB448F-1669-D477-C822-5E29200FCE52}"/>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F4E41F2-6114-2E30-EF24-D1FD76B239A5}"/>
              </a:ext>
            </a:extLst>
          </p:cNvPr>
          <p:cNvSpPr>
            <a:spLocks noGrp="1"/>
          </p:cNvSpPr>
          <p:nvPr>
            <p:ph type="sldNum" sz="quarter" idx="12"/>
          </p:nvPr>
        </p:nvSpPr>
        <p:spPr/>
        <p:txBody>
          <a:bodyPr/>
          <a:lstStyle/>
          <a:p>
            <a:fld id="{5E4DE196-8A13-4FF7-A07E-102851959EAB}" type="slidenum">
              <a:rPr lang="en-US" dirty="0"/>
              <a:t>5</a:t>
            </a:fld>
            <a:endParaRPr lang="en-US" dirty="0"/>
          </a:p>
        </p:txBody>
      </p:sp>
      <p:pic>
        <p:nvPicPr>
          <p:cNvPr id="7" name="Picture 6" descr="A blue squares with white text&#10;&#10;AI-generated content may be incorrect.">
            <a:extLst>
              <a:ext uri="{FF2B5EF4-FFF2-40B4-BE49-F238E27FC236}">
                <a16:creationId xmlns:a16="http://schemas.microsoft.com/office/drawing/2014/main" id="{CBB3D269-C479-575E-0604-E7EC5F290011}"/>
              </a:ext>
            </a:extLst>
          </p:cNvPr>
          <p:cNvPicPr>
            <a:picLocks noChangeAspect="1"/>
          </p:cNvPicPr>
          <p:nvPr/>
        </p:nvPicPr>
        <p:blipFill>
          <a:blip r:embed="rId2"/>
          <a:stretch>
            <a:fillRect/>
          </a:stretch>
        </p:blipFill>
        <p:spPr>
          <a:xfrm>
            <a:off x="1395154" y="2076450"/>
            <a:ext cx="9401689" cy="1685667"/>
          </a:xfrm>
          <a:prstGeom prst="rect">
            <a:avLst/>
          </a:prstGeom>
        </p:spPr>
      </p:pic>
      <p:sp>
        <p:nvSpPr>
          <p:cNvPr id="9" name="Content Placeholder 8">
            <a:extLst>
              <a:ext uri="{FF2B5EF4-FFF2-40B4-BE49-F238E27FC236}">
                <a16:creationId xmlns:a16="http://schemas.microsoft.com/office/drawing/2014/main" id="{4C72BE36-58C7-668E-9ABC-D3638803C291}"/>
              </a:ext>
            </a:extLst>
          </p:cNvPr>
          <p:cNvSpPr>
            <a:spLocks noGrp="1"/>
          </p:cNvSpPr>
          <p:nvPr>
            <p:ph idx="1"/>
          </p:nvPr>
        </p:nvSpPr>
        <p:spPr>
          <a:xfrm>
            <a:off x="795448" y="4248335"/>
            <a:ext cx="10638095" cy="2204765"/>
          </a:xfrm>
        </p:spPr>
        <p:txBody>
          <a:bodyPr vert="horz" lIns="91440" tIns="45720" rIns="91440" bIns="45720" rtlCol="0" anchor="t">
            <a:normAutofit/>
          </a:bodyPr>
          <a:lstStyle/>
          <a:p>
            <a:r>
              <a:rPr lang="en-US" dirty="0"/>
              <a:t>Data Collection: Data was collected by searching for good blackmail-related data/reports all around the Internet </a:t>
            </a:r>
          </a:p>
          <a:p>
            <a:r>
              <a:rPr lang="en-US"/>
              <a:t>Data Filtration: Data was manipulated and modified to get the data I need for the Code Book</a:t>
            </a:r>
          </a:p>
          <a:p>
            <a:r>
              <a:rPr lang="en-US"/>
              <a:t>Data Analysis: The results of the filtration for the Code Book was examined </a:t>
            </a:r>
          </a:p>
          <a:p>
            <a:r>
              <a:rPr lang="en-US"/>
              <a:t>Code Book Creation: After the analysis, the data will be used to create the Code Book</a:t>
            </a:r>
          </a:p>
        </p:txBody>
      </p:sp>
      <p:cxnSp>
        <p:nvCxnSpPr>
          <p:cNvPr id="11" name="Straight Arrow Connector 10">
            <a:extLst>
              <a:ext uri="{FF2B5EF4-FFF2-40B4-BE49-F238E27FC236}">
                <a16:creationId xmlns:a16="http://schemas.microsoft.com/office/drawing/2014/main" id="{DAA4F492-0FB8-4DE3-F79C-C494C336D632}"/>
              </a:ext>
            </a:extLst>
          </p:cNvPr>
          <p:cNvCxnSpPr/>
          <p:nvPr/>
        </p:nvCxnSpPr>
        <p:spPr>
          <a:xfrm>
            <a:off x="676458" y="4252814"/>
            <a:ext cx="8834" cy="156596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 name="Straight Arrow Connector 2">
            <a:extLst>
              <a:ext uri="{FF2B5EF4-FFF2-40B4-BE49-F238E27FC236}">
                <a16:creationId xmlns:a16="http://schemas.microsoft.com/office/drawing/2014/main" id="{68899807-E363-99D2-4C4C-074CA32FC53B}"/>
              </a:ext>
            </a:extLst>
          </p:cNvPr>
          <p:cNvCxnSpPr/>
          <p:nvPr/>
        </p:nvCxnSpPr>
        <p:spPr>
          <a:xfrm flipV="1">
            <a:off x="554382" y="4242904"/>
            <a:ext cx="240748" cy="2209"/>
          </a:xfrm>
          <a:prstGeom prst="straightConnector1">
            <a:avLst/>
          </a:prstGeom>
          <a:ln>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162883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E4E30-23F5-AD2C-75E9-15A66A7C9989}"/>
              </a:ext>
            </a:extLst>
          </p:cNvPr>
          <p:cNvSpPr>
            <a:spLocks noGrp="1"/>
          </p:cNvSpPr>
          <p:nvPr>
            <p:ph type="title"/>
          </p:nvPr>
        </p:nvSpPr>
        <p:spPr>
          <a:xfrm>
            <a:off x="881405" y="186650"/>
            <a:ext cx="10449784" cy="1265928"/>
          </a:xfrm>
        </p:spPr>
        <p:txBody>
          <a:bodyPr/>
          <a:lstStyle/>
          <a:p>
            <a:r>
              <a:rPr lang="en-US" dirty="0"/>
              <a:t>Methodology</a:t>
            </a:r>
          </a:p>
        </p:txBody>
      </p:sp>
      <p:sp>
        <p:nvSpPr>
          <p:cNvPr id="3" name="Content Placeholder 2">
            <a:extLst>
              <a:ext uri="{FF2B5EF4-FFF2-40B4-BE49-F238E27FC236}">
                <a16:creationId xmlns:a16="http://schemas.microsoft.com/office/drawing/2014/main" id="{DF793EC3-681B-0DD5-941B-36557EB5A6C1}"/>
              </a:ext>
            </a:extLst>
          </p:cNvPr>
          <p:cNvSpPr>
            <a:spLocks noGrp="1"/>
          </p:cNvSpPr>
          <p:nvPr>
            <p:ph idx="1"/>
          </p:nvPr>
        </p:nvSpPr>
        <p:spPr>
          <a:xfrm>
            <a:off x="877824" y="1725498"/>
            <a:ext cx="4748043" cy="4604033"/>
          </a:xfrm>
        </p:spPr>
        <p:txBody>
          <a:bodyPr vert="horz" lIns="91440" tIns="45720" rIns="91440" bIns="45720" rtlCol="0" anchor="t">
            <a:normAutofit/>
          </a:bodyPr>
          <a:lstStyle/>
          <a:p>
            <a:r>
              <a:rPr lang="en-US" dirty="0"/>
              <a:t>Data Collection: </a:t>
            </a:r>
            <a:endParaRPr lang="en-US"/>
          </a:p>
          <a:p>
            <a:pPr lvl="1" indent="-342900">
              <a:buFont typeface="Courier New" panose="020B0604020202020204" pitchFamily="34" charset="0"/>
              <a:buChar char="o"/>
            </a:pPr>
            <a:r>
              <a:rPr lang="en-US" dirty="0"/>
              <a:t>3 datasets ~</a:t>
            </a:r>
          </a:p>
          <a:p>
            <a:pPr lvl="2">
              <a:buFont typeface="Wingdings" panose="020B0604020202020204" pitchFamily="34" charset="0"/>
              <a:buChar char="§"/>
            </a:pPr>
            <a:r>
              <a:rPr lang="en-US" err="1"/>
              <a:t>ChainAbuse</a:t>
            </a:r>
            <a:endParaRPr lang="en-US"/>
          </a:p>
          <a:p>
            <a:pPr lvl="2">
              <a:buFont typeface="Wingdings" panose="020B0604020202020204" pitchFamily="34" charset="0"/>
              <a:buChar char="§"/>
            </a:pPr>
            <a:r>
              <a:rPr lang="en-US" dirty="0"/>
              <a:t>Reddit</a:t>
            </a:r>
          </a:p>
          <a:p>
            <a:pPr lvl="2">
              <a:buFont typeface="Wingdings" panose="020B0604020202020204" pitchFamily="34" charset="0"/>
              <a:buChar char="§"/>
            </a:pPr>
            <a:r>
              <a:rPr lang="en-US" dirty="0" err="1"/>
              <a:t>Ransomware.live</a:t>
            </a:r>
            <a:endParaRPr lang="en-US" dirty="0"/>
          </a:p>
          <a:p>
            <a:pPr lvl="1" indent="-342900">
              <a:buFont typeface="Courier New" panose="020B0604020202020204" pitchFamily="34" charset="0"/>
              <a:buChar char="o"/>
            </a:pPr>
            <a:r>
              <a:rPr lang="en-US" dirty="0">
                <a:solidFill>
                  <a:srgbClr val="35403A"/>
                </a:solidFill>
              </a:rPr>
              <a:t>Created data scrapers to get the content in a file</a:t>
            </a:r>
          </a:p>
          <a:p>
            <a:pPr marL="457200" lvl="1" indent="-342900">
              <a:buFont typeface="Courier New" panose="020B0604020202020204" pitchFamily="34" charset="0"/>
              <a:buChar char="o"/>
            </a:pPr>
            <a:endParaRPr lang="en-US" dirty="0"/>
          </a:p>
          <a:p>
            <a:r>
              <a:rPr lang="en-US" dirty="0"/>
              <a:t>Data Filtration</a:t>
            </a:r>
          </a:p>
          <a:p>
            <a:pPr lvl="1" indent="-342900">
              <a:buFont typeface="Courier New" panose="020B0604020202020204" pitchFamily="34" charset="0"/>
              <a:buChar char="o"/>
            </a:pPr>
            <a:r>
              <a:rPr lang="en-US" dirty="0"/>
              <a:t>Removed duplicate data, incomplete data and irrelevant data</a:t>
            </a:r>
          </a:p>
          <a:p>
            <a:pPr lvl="1" indent="-342900">
              <a:buFont typeface="Courier New" panose="020B0604020202020204" pitchFamily="34" charset="0"/>
              <a:buChar char="o"/>
            </a:pPr>
            <a:r>
              <a:rPr lang="en-US" dirty="0"/>
              <a:t>Created programs that cleaned/removed content that had HTML markups, boilerplate text, etc.</a:t>
            </a:r>
          </a:p>
          <a:p>
            <a:pPr lvl="1" indent="-342900">
              <a:buFont typeface="Courier New" panose="020B0604020202020204" pitchFamily="34" charset="0"/>
              <a:buChar char="o"/>
            </a:pPr>
            <a:endParaRPr lang="en-US" dirty="0"/>
          </a:p>
        </p:txBody>
      </p:sp>
      <p:sp>
        <p:nvSpPr>
          <p:cNvPr id="4" name="Date Placeholder 3">
            <a:extLst>
              <a:ext uri="{FF2B5EF4-FFF2-40B4-BE49-F238E27FC236}">
                <a16:creationId xmlns:a16="http://schemas.microsoft.com/office/drawing/2014/main" id="{D9D616BE-EAB4-67B6-BED5-50DDFEDC4CB4}"/>
              </a:ext>
            </a:extLst>
          </p:cNvPr>
          <p:cNvSpPr>
            <a:spLocks noGrp="1"/>
          </p:cNvSpPr>
          <p:nvPr>
            <p:ph type="dt" sz="half" idx="10"/>
          </p:nvPr>
        </p:nvSpPr>
        <p:spPr/>
        <p:txBody>
          <a:bodyPr/>
          <a:lstStyle/>
          <a:p>
            <a:fld id="{43B6F2F5-95B4-4B09-B862-832975A999BB}" type="datetime1">
              <a:t>11/28/2025</a:t>
            </a:fld>
            <a:endParaRPr lang="en-US" dirty="0"/>
          </a:p>
        </p:txBody>
      </p:sp>
      <p:sp>
        <p:nvSpPr>
          <p:cNvPr id="5" name="Footer Placeholder 4">
            <a:extLst>
              <a:ext uri="{FF2B5EF4-FFF2-40B4-BE49-F238E27FC236}">
                <a16:creationId xmlns:a16="http://schemas.microsoft.com/office/drawing/2014/main" id="{BC362A2B-2E25-4383-12F9-CDFAB5216F47}"/>
              </a:ext>
            </a:extLst>
          </p:cNvPr>
          <p:cNvSpPr>
            <a:spLocks noGrp="1"/>
          </p:cNvSpPr>
          <p:nvPr>
            <p:ph type="ftr" sz="quarter" idx="11"/>
          </p:nvPr>
        </p:nvSpPr>
        <p:spPr>
          <a:xfrm>
            <a:off x="7142617" y="5954755"/>
            <a:ext cx="4297680" cy="365125"/>
          </a:xfrm>
        </p:spPr>
        <p:txBody>
          <a:bodyPr/>
          <a:lstStyle/>
          <a:p>
            <a:r>
              <a:rPr lang="en-US" dirty="0"/>
              <a:t>
              </a:t>
            </a:r>
          </a:p>
        </p:txBody>
      </p:sp>
      <p:sp>
        <p:nvSpPr>
          <p:cNvPr id="6" name="Slide Number Placeholder 5">
            <a:extLst>
              <a:ext uri="{FF2B5EF4-FFF2-40B4-BE49-F238E27FC236}">
                <a16:creationId xmlns:a16="http://schemas.microsoft.com/office/drawing/2014/main" id="{FC69CD4E-8730-1A15-2FFD-8FF47FA7C58E}"/>
              </a:ext>
            </a:extLst>
          </p:cNvPr>
          <p:cNvSpPr>
            <a:spLocks noGrp="1"/>
          </p:cNvSpPr>
          <p:nvPr>
            <p:ph type="sldNum" sz="quarter" idx="12"/>
          </p:nvPr>
        </p:nvSpPr>
        <p:spPr>
          <a:xfrm>
            <a:off x="11440296" y="5954755"/>
            <a:ext cx="521207" cy="365125"/>
          </a:xfrm>
        </p:spPr>
        <p:txBody>
          <a:bodyPr/>
          <a:lstStyle/>
          <a:p>
            <a:fld id="{5E4DE196-8A13-4FF7-A07E-102851959EAB}" type="slidenum">
              <a:rPr lang="en-US" dirty="0"/>
              <a:t>6</a:t>
            </a:fld>
            <a:endParaRPr lang="en-US" dirty="0"/>
          </a:p>
        </p:txBody>
      </p:sp>
      <p:sp>
        <p:nvSpPr>
          <p:cNvPr id="10" name="Content Placeholder 2">
            <a:extLst>
              <a:ext uri="{FF2B5EF4-FFF2-40B4-BE49-F238E27FC236}">
                <a16:creationId xmlns:a16="http://schemas.microsoft.com/office/drawing/2014/main" id="{893709DD-3A86-947A-0560-ACBD3B013A92}"/>
              </a:ext>
            </a:extLst>
          </p:cNvPr>
          <p:cNvSpPr txBox="1">
            <a:spLocks/>
          </p:cNvSpPr>
          <p:nvPr/>
        </p:nvSpPr>
        <p:spPr>
          <a:xfrm>
            <a:off x="6108959" y="1563289"/>
            <a:ext cx="5332821" cy="4764454"/>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600" kern="1200">
                <a:solidFill>
                  <a:schemeClr val="tx2"/>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100" kern="1200">
                <a:solidFill>
                  <a:schemeClr val="tx2"/>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Data Analysis</a:t>
            </a:r>
            <a:endParaRPr lang="en-US"/>
          </a:p>
          <a:p>
            <a:pPr lvl="1" indent="-342900">
              <a:buFont typeface="Courier New" panose="020B0604020202020204" pitchFamily="34" charset="0"/>
              <a:buChar char="o"/>
            </a:pPr>
            <a:r>
              <a:rPr lang="en-US" dirty="0"/>
              <a:t>From blackmail data</a:t>
            </a:r>
          </a:p>
          <a:p>
            <a:pPr lvl="2" indent="-342900">
              <a:buFont typeface="Wingdings" panose="020B0604020202020204" pitchFamily="34" charset="0"/>
              <a:buChar char="§"/>
            </a:pPr>
            <a:r>
              <a:rPr lang="en-US" dirty="0"/>
              <a:t>The emphasis was placed on emotional tone, intimidation strategies, urgency cues, and manipulative framing (techniques the exploited fear, shame, or secrecy)</a:t>
            </a:r>
          </a:p>
          <a:p>
            <a:pPr lvl="1" indent="-342900">
              <a:buFont typeface="Courier New" panose="020B0604020202020204" pitchFamily="34" charset="0"/>
              <a:buChar char="o"/>
            </a:pPr>
            <a:r>
              <a:rPr lang="en-US" dirty="0"/>
              <a:t>From ransomware data</a:t>
            </a:r>
          </a:p>
          <a:p>
            <a:pPr lvl="2" indent="-342900">
              <a:buFont typeface="Wingdings" panose="020B0604020202020204" pitchFamily="34" charset="0"/>
              <a:buChar char="§"/>
            </a:pPr>
            <a:r>
              <a:rPr lang="en-US" dirty="0"/>
              <a:t>Analyzed for operational coercion such as data-leak threats, countdown timers, justification narratives, assurances of "professionalism" and claims of successful decryption</a:t>
            </a:r>
          </a:p>
          <a:p>
            <a:pPr lvl="1" indent="-342900">
              <a:buFont typeface="Courier New" panose="020B0604020202020204" pitchFamily="34" charset="0"/>
              <a:buChar char="o"/>
            </a:pPr>
            <a:r>
              <a:rPr lang="en-US" dirty="0"/>
              <a:t>They both had linguistic patterns (repeated use of conditional threats, emotional hooks, and payoff instructions)</a:t>
            </a:r>
          </a:p>
          <a:p>
            <a:r>
              <a:rPr lang="en-US" dirty="0"/>
              <a:t>Code Creation</a:t>
            </a:r>
          </a:p>
          <a:p>
            <a:pPr lvl="1">
              <a:buFont typeface="Courier New" panose="020B0604020202020204" pitchFamily="34" charset="0"/>
              <a:buChar char="o"/>
            </a:pPr>
            <a:r>
              <a:rPr lang="en-US" dirty="0"/>
              <a:t>Definition of tactic</a:t>
            </a:r>
          </a:p>
          <a:p>
            <a:pPr lvl="1">
              <a:buFont typeface="Courier New" panose="020B0604020202020204" pitchFamily="34" charset="0"/>
              <a:buChar char="o"/>
            </a:pPr>
            <a:r>
              <a:rPr lang="en-US" dirty="0"/>
              <a:t>Example phrases/linguistics markers</a:t>
            </a:r>
          </a:p>
          <a:p>
            <a:pPr lvl="1">
              <a:buFont typeface="Courier New" panose="020B0604020202020204" pitchFamily="34" charset="0"/>
              <a:buChar char="o"/>
            </a:pPr>
            <a:r>
              <a:rPr lang="en-US" dirty="0"/>
              <a:t>Psychological mechanisms involved</a:t>
            </a:r>
          </a:p>
          <a:p>
            <a:pPr lvl="1">
              <a:buFont typeface="Courier New" panose="020B0604020202020204" pitchFamily="34" charset="0"/>
              <a:buChar char="o"/>
            </a:pPr>
            <a:r>
              <a:rPr lang="en-US" dirty="0"/>
              <a:t>Brief explanation of why the technique was effective</a:t>
            </a:r>
          </a:p>
        </p:txBody>
      </p:sp>
      <p:cxnSp>
        <p:nvCxnSpPr>
          <p:cNvPr id="11" name="Straight Arrow Connector 10">
            <a:extLst>
              <a:ext uri="{FF2B5EF4-FFF2-40B4-BE49-F238E27FC236}">
                <a16:creationId xmlns:a16="http://schemas.microsoft.com/office/drawing/2014/main" id="{A9F65AC3-3B8B-EE67-3686-60A4213DAC45}"/>
              </a:ext>
            </a:extLst>
          </p:cNvPr>
          <p:cNvCxnSpPr/>
          <p:nvPr/>
        </p:nvCxnSpPr>
        <p:spPr>
          <a:xfrm flipH="1" flipV="1">
            <a:off x="2503117" y="2563172"/>
            <a:ext cx="506627" cy="21830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DBDE0F31-8E42-D963-92F4-F15005F0F555}"/>
              </a:ext>
            </a:extLst>
          </p:cNvPr>
          <p:cNvCxnSpPr>
            <a:cxnSpLocks/>
          </p:cNvCxnSpPr>
          <p:nvPr/>
        </p:nvCxnSpPr>
        <p:spPr>
          <a:xfrm flipH="1">
            <a:off x="2534008" y="2791772"/>
            <a:ext cx="465439" cy="11121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04605422-A898-B0C9-E373-5AA7526280EF}"/>
              </a:ext>
            </a:extLst>
          </p:cNvPr>
          <p:cNvSpPr txBox="1"/>
          <p:nvPr/>
        </p:nvSpPr>
        <p:spPr>
          <a:xfrm>
            <a:off x="3025542" y="2667490"/>
            <a:ext cx="114711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solidFill>
                  <a:schemeClr val="tx2"/>
                </a:solidFill>
              </a:rPr>
              <a:t>Blackmail data</a:t>
            </a:r>
            <a:endParaRPr lang="en-US" dirty="0">
              <a:solidFill>
                <a:schemeClr val="tx2"/>
              </a:solidFill>
            </a:endParaRPr>
          </a:p>
        </p:txBody>
      </p:sp>
      <p:cxnSp>
        <p:nvCxnSpPr>
          <p:cNvPr id="15" name="Straight Arrow Connector 14">
            <a:extLst>
              <a:ext uri="{FF2B5EF4-FFF2-40B4-BE49-F238E27FC236}">
                <a16:creationId xmlns:a16="http://schemas.microsoft.com/office/drawing/2014/main" id="{E4E9C574-23DF-1692-ED89-5A25B849B7D9}"/>
              </a:ext>
            </a:extLst>
          </p:cNvPr>
          <p:cNvCxnSpPr>
            <a:cxnSpLocks/>
          </p:cNvCxnSpPr>
          <p:nvPr/>
        </p:nvCxnSpPr>
        <p:spPr>
          <a:xfrm flipH="1">
            <a:off x="2915009" y="3162476"/>
            <a:ext cx="568410" cy="823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6A4A1C15-BF14-0829-5D9D-CBB85628AB36}"/>
              </a:ext>
            </a:extLst>
          </p:cNvPr>
          <p:cNvSpPr txBox="1"/>
          <p:nvPr/>
        </p:nvSpPr>
        <p:spPr>
          <a:xfrm>
            <a:off x="3478622" y="3007301"/>
            <a:ext cx="1528117"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solidFill>
                  <a:schemeClr val="tx2"/>
                </a:solidFill>
              </a:rPr>
              <a:t>Ransomware data</a:t>
            </a:r>
            <a:endParaRPr lang="en-US" dirty="0">
              <a:solidFill>
                <a:schemeClr val="tx2"/>
              </a:solidFill>
            </a:endParaRPr>
          </a:p>
        </p:txBody>
      </p:sp>
    </p:spTree>
    <p:extLst>
      <p:ext uri="{BB962C8B-B14F-4D97-AF65-F5344CB8AC3E}">
        <p14:creationId xmlns:p14="http://schemas.microsoft.com/office/powerpoint/2010/main" val="3837936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209EE-8375-3697-32B0-4D4996CE506A}"/>
              </a:ext>
            </a:extLst>
          </p:cNvPr>
          <p:cNvSpPr>
            <a:spLocks noGrp="1"/>
          </p:cNvSpPr>
          <p:nvPr>
            <p:ph type="title"/>
          </p:nvPr>
        </p:nvSpPr>
        <p:spPr/>
        <p:txBody>
          <a:bodyPr/>
          <a:lstStyle/>
          <a:p>
            <a:r>
              <a:rPr lang="en-US" dirty="0"/>
              <a:t>Results</a:t>
            </a:r>
          </a:p>
        </p:txBody>
      </p:sp>
      <p:pic>
        <p:nvPicPr>
          <p:cNvPr id="7" name="Content Placeholder 6" descr="A graph of data saturation&#10;&#10;AI-generated content may be incorrect.">
            <a:extLst>
              <a:ext uri="{FF2B5EF4-FFF2-40B4-BE49-F238E27FC236}">
                <a16:creationId xmlns:a16="http://schemas.microsoft.com/office/drawing/2014/main" id="{F7C24854-818D-15F4-8EB1-ABA44BC10631}"/>
              </a:ext>
            </a:extLst>
          </p:cNvPr>
          <p:cNvPicPr>
            <a:picLocks noGrp="1" noChangeAspect="1"/>
          </p:cNvPicPr>
          <p:nvPr>
            <p:ph idx="1"/>
          </p:nvPr>
        </p:nvPicPr>
        <p:blipFill>
          <a:blip r:embed="rId2"/>
          <a:stretch>
            <a:fillRect/>
          </a:stretch>
        </p:blipFill>
        <p:spPr>
          <a:xfrm>
            <a:off x="3122485" y="2368363"/>
            <a:ext cx="5953125" cy="3524250"/>
          </a:xfrm>
          <a:prstGeom prst="rect">
            <a:avLst/>
          </a:prstGeom>
        </p:spPr>
      </p:pic>
      <p:sp>
        <p:nvSpPr>
          <p:cNvPr id="4" name="Date Placeholder 3">
            <a:extLst>
              <a:ext uri="{FF2B5EF4-FFF2-40B4-BE49-F238E27FC236}">
                <a16:creationId xmlns:a16="http://schemas.microsoft.com/office/drawing/2014/main" id="{982FB3EE-AF02-87AB-836E-8E345E2DAF05}"/>
              </a:ext>
            </a:extLst>
          </p:cNvPr>
          <p:cNvSpPr>
            <a:spLocks noGrp="1"/>
          </p:cNvSpPr>
          <p:nvPr>
            <p:ph type="dt" sz="half" idx="10"/>
          </p:nvPr>
        </p:nvSpPr>
        <p:spPr/>
        <p:txBody>
          <a:bodyPr/>
          <a:lstStyle/>
          <a:p>
            <a:fld id="{66667FD8-DB54-429B-A76D-E547146D99DD}" type="datetime1">
              <a:t>11/28/2025</a:t>
            </a:fld>
            <a:endParaRPr lang="en-US" dirty="0"/>
          </a:p>
        </p:txBody>
      </p:sp>
      <p:sp>
        <p:nvSpPr>
          <p:cNvPr id="3" name="TextBox 2">
            <a:extLst>
              <a:ext uri="{FF2B5EF4-FFF2-40B4-BE49-F238E27FC236}">
                <a16:creationId xmlns:a16="http://schemas.microsoft.com/office/drawing/2014/main" id="{3C724F0F-6269-2411-852E-F3A98133483B}"/>
              </a:ext>
            </a:extLst>
          </p:cNvPr>
          <p:cNvSpPr txBox="1"/>
          <p:nvPr/>
        </p:nvSpPr>
        <p:spPr>
          <a:xfrm>
            <a:off x="640492" y="3707027"/>
            <a:ext cx="1837037"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dirty="0"/>
              <a:t>Data Saturation</a:t>
            </a:r>
            <a:endParaRPr lang="en-US"/>
          </a:p>
        </p:txBody>
      </p:sp>
      <p:sp>
        <p:nvSpPr>
          <p:cNvPr id="6" name="TextBox 5">
            <a:extLst>
              <a:ext uri="{FF2B5EF4-FFF2-40B4-BE49-F238E27FC236}">
                <a16:creationId xmlns:a16="http://schemas.microsoft.com/office/drawing/2014/main" id="{DBFA3198-D6AC-FD00-0244-9FE89DC2FB03}"/>
              </a:ext>
            </a:extLst>
          </p:cNvPr>
          <p:cNvSpPr txBox="1"/>
          <p:nvPr/>
        </p:nvSpPr>
        <p:spPr>
          <a:xfrm>
            <a:off x="9207843" y="55605"/>
            <a:ext cx="2743199" cy="67403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t>Key words:</a:t>
            </a:r>
          </a:p>
          <a:p>
            <a:pPr algn="ctr"/>
            <a:r>
              <a:rPr lang="en-US" dirty="0">
                <a:ea typeface="+mn-lt"/>
                <a:cs typeface="+mn-lt"/>
              </a:rPr>
              <a:t>threat</a:t>
            </a:r>
            <a:endParaRPr lang="en-US" dirty="0"/>
          </a:p>
          <a:p>
            <a:pPr algn="ctr"/>
            <a:r>
              <a:rPr lang="en-US" dirty="0">
                <a:ea typeface="+mn-lt"/>
                <a:cs typeface="+mn-lt"/>
              </a:rPr>
              <a:t>warn</a:t>
            </a:r>
            <a:endParaRPr lang="en-US" dirty="0"/>
          </a:p>
          <a:p>
            <a:pPr algn="ctr"/>
            <a:r>
              <a:rPr lang="en-US" dirty="0">
                <a:ea typeface="+mn-lt"/>
                <a:cs typeface="+mn-lt"/>
              </a:rPr>
              <a:t>expose</a:t>
            </a:r>
            <a:endParaRPr lang="en-US" dirty="0"/>
          </a:p>
          <a:p>
            <a:pPr algn="ctr"/>
            <a:r>
              <a:rPr lang="en-US" dirty="0">
                <a:ea typeface="+mn-lt"/>
                <a:cs typeface="+mn-lt"/>
              </a:rPr>
              <a:t>leak</a:t>
            </a:r>
            <a:endParaRPr lang="en-US" dirty="0"/>
          </a:p>
          <a:p>
            <a:pPr algn="ctr"/>
            <a:r>
              <a:rPr lang="en-US" dirty="0">
                <a:ea typeface="+mn-lt"/>
                <a:cs typeface="+mn-lt"/>
              </a:rPr>
              <a:t>share with</a:t>
            </a:r>
            <a:endParaRPr lang="en-US" dirty="0"/>
          </a:p>
          <a:p>
            <a:pPr algn="ctr"/>
            <a:r>
              <a:rPr lang="en-US" dirty="0">
                <a:ea typeface="+mn-lt"/>
                <a:cs typeface="+mn-lt"/>
              </a:rPr>
              <a:t>secret</a:t>
            </a:r>
            <a:endParaRPr lang="en-US" dirty="0"/>
          </a:p>
          <a:p>
            <a:pPr algn="ctr"/>
            <a:r>
              <a:rPr lang="en-US" dirty="0">
                <a:ea typeface="+mn-lt"/>
                <a:cs typeface="+mn-lt"/>
              </a:rPr>
              <a:t>privacy</a:t>
            </a:r>
            <a:endParaRPr lang="en-US" dirty="0"/>
          </a:p>
          <a:p>
            <a:pPr algn="ctr"/>
            <a:r>
              <a:rPr lang="en-US" dirty="0">
                <a:ea typeface="+mn-lt"/>
                <a:cs typeface="+mn-lt"/>
              </a:rPr>
              <a:t>compromised</a:t>
            </a:r>
            <a:endParaRPr lang="en-US" dirty="0"/>
          </a:p>
          <a:p>
            <a:pPr algn="ctr"/>
            <a:r>
              <a:rPr lang="en-US" dirty="0">
                <a:ea typeface="+mn-lt"/>
                <a:cs typeface="+mn-lt"/>
              </a:rPr>
              <a:t>hacked</a:t>
            </a:r>
            <a:endParaRPr lang="en-US" dirty="0"/>
          </a:p>
          <a:p>
            <a:pPr algn="ctr"/>
            <a:r>
              <a:rPr lang="en-US" dirty="0">
                <a:ea typeface="+mn-lt"/>
                <a:cs typeface="+mn-lt"/>
              </a:rPr>
              <a:t>shame</a:t>
            </a:r>
            <a:endParaRPr lang="en-US" dirty="0"/>
          </a:p>
          <a:p>
            <a:pPr algn="ctr"/>
            <a:r>
              <a:rPr lang="en-US" dirty="0">
                <a:ea typeface="+mn-lt"/>
                <a:cs typeface="+mn-lt"/>
              </a:rPr>
              <a:t>nasty</a:t>
            </a:r>
            <a:endParaRPr lang="en-US" dirty="0"/>
          </a:p>
          <a:p>
            <a:pPr algn="ctr"/>
            <a:r>
              <a:rPr lang="en-US" dirty="0">
                <a:ea typeface="+mn-lt"/>
                <a:cs typeface="+mn-lt"/>
              </a:rPr>
              <a:t>pervert</a:t>
            </a:r>
            <a:endParaRPr lang="en-US" dirty="0"/>
          </a:p>
          <a:p>
            <a:pPr algn="ctr"/>
            <a:r>
              <a:rPr lang="en-US" dirty="0">
                <a:ea typeface="+mn-lt"/>
                <a:cs typeface="+mn-lt"/>
              </a:rPr>
              <a:t>images</a:t>
            </a:r>
            <a:endParaRPr lang="en-US" dirty="0"/>
          </a:p>
          <a:p>
            <a:pPr algn="ctr"/>
            <a:r>
              <a:rPr lang="en-US" dirty="0">
                <a:ea typeface="+mn-lt"/>
                <a:cs typeface="+mn-lt"/>
              </a:rPr>
              <a:t>photos</a:t>
            </a:r>
            <a:endParaRPr lang="en-US" dirty="0"/>
          </a:p>
          <a:p>
            <a:pPr algn="ctr"/>
            <a:r>
              <a:rPr lang="en-US" dirty="0">
                <a:ea typeface="+mn-lt"/>
                <a:cs typeface="+mn-lt"/>
              </a:rPr>
              <a:t>screenshots</a:t>
            </a:r>
            <a:endParaRPr lang="en-US" dirty="0"/>
          </a:p>
          <a:p>
            <a:pPr algn="ctr"/>
            <a:r>
              <a:rPr lang="en-US" dirty="0">
                <a:ea typeface="+mn-lt"/>
                <a:cs typeface="+mn-lt"/>
              </a:rPr>
              <a:t>deadline</a:t>
            </a:r>
            <a:endParaRPr lang="en-US" dirty="0"/>
          </a:p>
          <a:p>
            <a:pPr algn="ctr"/>
            <a:r>
              <a:rPr lang="en-US" dirty="0">
                <a:ea typeface="+mn-lt"/>
                <a:cs typeface="+mn-lt"/>
              </a:rPr>
              <a:t>limited time</a:t>
            </a:r>
            <a:endParaRPr lang="en-US" dirty="0"/>
          </a:p>
          <a:p>
            <a:pPr algn="ctr"/>
            <a:r>
              <a:rPr lang="en-US" dirty="0">
                <a:ea typeface="+mn-lt"/>
                <a:cs typeface="+mn-lt"/>
              </a:rPr>
              <a:t>immediately</a:t>
            </a:r>
            <a:endParaRPr lang="en-US" dirty="0"/>
          </a:p>
          <a:p>
            <a:pPr algn="ctr"/>
            <a:r>
              <a:rPr lang="en-US" dirty="0">
                <a:ea typeface="+mn-lt"/>
                <a:cs typeface="+mn-lt"/>
              </a:rPr>
              <a:t>act now</a:t>
            </a:r>
            <a:endParaRPr lang="en-US" dirty="0"/>
          </a:p>
          <a:p>
            <a:pPr algn="ctr"/>
            <a:r>
              <a:rPr lang="en-US" dirty="0">
                <a:ea typeface="+mn-lt"/>
                <a:cs typeface="+mn-lt"/>
              </a:rPr>
              <a:t>tracked</a:t>
            </a:r>
            <a:endParaRPr lang="en-US" dirty="0"/>
          </a:p>
          <a:p>
            <a:pPr algn="ctr"/>
            <a:r>
              <a:rPr lang="en-US" dirty="0">
                <a:ea typeface="+mn-lt"/>
                <a:cs typeface="+mn-lt"/>
              </a:rPr>
              <a:t>fee</a:t>
            </a:r>
            <a:endParaRPr lang="en-US" dirty="0"/>
          </a:p>
          <a:p>
            <a:pPr algn="ctr"/>
            <a:r>
              <a:rPr lang="en-US" dirty="0">
                <a:ea typeface="+mn-lt"/>
                <a:cs typeface="+mn-lt"/>
              </a:rPr>
              <a:t>demand</a:t>
            </a:r>
            <a:endParaRPr lang="en-US" dirty="0"/>
          </a:p>
          <a:p>
            <a:pPr algn="ctr"/>
            <a:r>
              <a:rPr lang="en-US" dirty="0">
                <a:ea typeface="+mn-lt"/>
                <a:cs typeface="+mn-lt"/>
              </a:rPr>
              <a:t>transfer</a:t>
            </a:r>
            <a:endParaRPr lang="en-US" dirty="0"/>
          </a:p>
        </p:txBody>
      </p:sp>
    </p:spTree>
    <p:extLst>
      <p:ext uri="{BB962C8B-B14F-4D97-AF65-F5344CB8AC3E}">
        <p14:creationId xmlns:p14="http://schemas.microsoft.com/office/powerpoint/2010/main" val="4168787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F65D8-D4E1-D2E2-465E-13346ABF49C5}"/>
              </a:ext>
            </a:extLst>
          </p:cNvPr>
          <p:cNvSpPr>
            <a:spLocks noGrp="1"/>
          </p:cNvSpPr>
          <p:nvPr>
            <p:ph type="title"/>
          </p:nvPr>
        </p:nvSpPr>
        <p:spPr/>
        <p:txBody>
          <a:bodyPr/>
          <a:lstStyle/>
          <a:p>
            <a:r>
              <a:rPr lang="en-US" dirty="0"/>
              <a:t>Key Findings #1</a:t>
            </a:r>
          </a:p>
        </p:txBody>
      </p:sp>
      <p:sp>
        <p:nvSpPr>
          <p:cNvPr id="3" name="Content Placeholder 2">
            <a:extLst>
              <a:ext uri="{FF2B5EF4-FFF2-40B4-BE49-F238E27FC236}">
                <a16:creationId xmlns:a16="http://schemas.microsoft.com/office/drawing/2014/main" id="{D08A6B9D-AE18-BD60-1F80-D992A4BE1074}"/>
              </a:ext>
            </a:extLst>
          </p:cNvPr>
          <p:cNvSpPr>
            <a:spLocks noGrp="1"/>
          </p:cNvSpPr>
          <p:nvPr>
            <p:ph idx="1"/>
          </p:nvPr>
        </p:nvSpPr>
        <p:spPr>
          <a:xfrm>
            <a:off x="8790761" y="1221519"/>
            <a:ext cx="2908699" cy="5331792"/>
          </a:xfrm>
        </p:spPr>
        <p:txBody>
          <a:bodyPr vert="horz" lIns="91440" tIns="45720" rIns="91440" bIns="45720" rtlCol="0" anchor="t">
            <a:normAutofit/>
          </a:bodyPr>
          <a:lstStyle/>
          <a:p>
            <a:pPr marL="0" indent="0" algn="ctr">
              <a:buNone/>
            </a:pPr>
            <a:r>
              <a:rPr lang="en-US" dirty="0" err="1"/>
              <a:t>ChainAbuse</a:t>
            </a:r>
            <a:r>
              <a:rPr lang="en-US" dirty="0"/>
              <a:t> </a:t>
            </a:r>
          </a:p>
          <a:p>
            <a:r>
              <a:rPr lang="en-US" dirty="0"/>
              <a:t>Reports from victims of blackmail scamming activities</a:t>
            </a:r>
          </a:p>
          <a:p>
            <a:r>
              <a:rPr lang="en-US" dirty="0"/>
              <a:t>Reports follow formulaic structure emphasizing urgency and payment coercion</a:t>
            </a:r>
          </a:p>
          <a:p>
            <a:r>
              <a:rPr lang="en-US" dirty="0"/>
              <a:t>Most reports include explicit payment deadlines, and threats of exposure</a:t>
            </a:r>
          </a:p>
          <a:p>
            <a:r>
              <a:rPr lang="en-US" dirty="0"/>
              <a:t>Scammers used language that made it seem like they were in control of the victim's personal information or devices</a:t>
            </a:r>
          </a:p>
        </p:txBody>
      </p:sp>
      <p:sp>
        <p:nvSpPr>
          <p:cNvPr id="4" name="Date Placeholder 3">
            <a:extLst>
              <a:ext uri="{FF2B5EF4-FFF2-40B4-BE49-F238E27FC236}">
                <a16:creationId xmlns:a16="http://schemas.microsoft.com/office/drawing/2014/main" id="{D5CE9601-D359-E19C-275C-A905EB18E8E0}"/>
              </a:ext>
            </a:extLst>
          </p:cNvPr>
          <p:cNvSpPr>
            <a:spLocks noGrp="1"/>
          </p:cNvSpPr>
          <p:nvPr>
            <p:ph type="dt" sz="half" idx="10"/>
          </p:nvPr>
        </p:nvSpPr>
        <p:spPr/>
        <p:txBody>
          <a:bodyPr/>
          <a:lstStyle/>
          <a:p>
            <a:fld id="{47AD0470-5F3A-4E2A-818F-B936D2061210}" type="datetime1">
              <a:t>11/28/2025</a:t>
            </a:fld>
            <a:endParaRPr lang="en-US" dirty="0"/>
          </a:p>
        </p:txBody>
      </p:sp>
      <p:sp>
        <p:nvSpPr>
          <p:cNvPr id="5" name="Footer Placeholder 4">
            <a:extLst>
              <a:ext uri="{FF2B5EF4-FFF2-40B4-BE49-F238E27FC236}">
                <a16:creationId xmlns:a16="http://schemas.microsoft.com/office/drawing/2014/main" id="{92F12CB4-2E05-646C-3E9B-A8711898C046}"/>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6725D957-2988-1D53-D7B7-779EBE07350E}"/>
              </a:ext>
            </a:extLst>
          </p:cNvPr>
          <p:cNvSpPr>
            <a:spLocks noGrp="1"/>
          </p:cNvSpPr>
          <p:nvPr>
            <p:ph type="sldNum" sz="quarter" idx="12"/>
          </p:nvPr>
        </p:nvSpPr>
        <p:spPr/>
        <p:txBody>
          <a:bodyPr/>
          <a:lstStyle/>
          <a:p>
            <a:fld id="{5E4DE196-8A13-4FF7-A07E-102851959EAB}" type="slidenum">
              <a:rPr lang="en-US" dirty="0"/>
              <a:t>8</a:t>
            </a:fld>
            <a:endParaRPr lang="en-US" dirty="0"/>
          </a:p>
        </p:txBody>
      </p:sp>
      <p:pic>
        <p:nvPicPr>
          <p:cNvPr id="8" name="Picture 7" descr="A screenshot of a computer&#10;&#10;AI-generated content may be incorrect.">
            <a:extLst>
              <a:ext uri="{FF2B5EF4-FFF2-40B4-BE49-F238E27FC236}">
                <a16:creationId xmlns:a16="http://schemas.microsoft.com/office/drawing/2014/main" id="{79B3913B-FEAE-5B3B-D8B1-B297361195D7}"/>
              </a:ext>
            </a:extLst>
          </p:cNvPr>
          <p:cNvPicPr>
            <a:picLocks noChangeAspect="1"/>
          </p:cNvPicPr>
          <p:nvPr/>
        </p:nvPicPr>
        <p:blipFill>
          <a:blip r:embed="rId2"/>
          <a:stretch>
            <a:fillRect/>
          </a:stretch>
        </p:blipFill>
        <p:spPr>
          <a:xfrm>
            <a:off x="202368" y="2208162"/>
            <a:ext cx="8229186" cy="3525479"/>
          </a:xfrm>
          <a:prstGeom prst="rect">
            <a:avLst/>
          </a:prstGeom>
        </p:spPr>
      </p:pic>
    </p:spTree>
    <p:extLst>
      <p:ext uri="{BB962C8B-B14F-4D97-AF65-F5344CB8AC3E}">
        <p14:creationId xmlns:p14="http://schemas.microsoft.com/office/powerpoint/2010/main" val="38896377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D9557-545A-F487-F462-8420440F0D45}"/>
              </a:ext>
            </a:extLst>
          </p:cNvPr>
          <p:cNvSpPr>
            <a:spLocks noGrp="1"/>
          </p:cNvSpPr>
          <p:nvPr>
            <p:ph type="title"/>
          </p:nvPr>
        </p:nvSpPr>
        <p:spPr/>
        <p:txBody>
          <a:bodyPr/>
          <a:lstStyle/>
          <a:p>
            <a:r>
              <a:rPr lang="en-US" dirty="0"/>
              <a:t>Key Findings #2</a:t>
            </a:r>
          </a:p>
        </p:txBody>
      </p:sp>
      <p:sp>
        <p:nvSpPr>
          <p:cNvPr id="3" name="Content Placeholder 2">
            <a:extLst>
              <a:ext uri="{FF2B5EF4-FFF2-40B4-BE49-F238E27FC236}">
                <a16:creationId xmlns:a16="http://schemas.microsoft.com/office/drawing/2014/main" id="{6FBFDE14-3DB1-A966-4FBD-304BD2A6E2C0}"/>
              </a:ext>
            </a:extLst>
          </p:cNvPr>
          <p:cNvSpPr>
            <a:spLocks noGrp="1"/>
          </p:cNvSpPr>
          <p:nvPr>
            <p:ph idx="1"/>
          </p:nvPr>
        </p:nvSpPr>
        <p:spPr>
          <a:xfrm>
            <a:off x="8783915" y="1426877"/>
            <a:ext cx="2907060" cy="4655521"/>
          </a:xfrm>
        </p:spPr>
        <p:txBody>
          <a:bodyPr vert="horz" lIns="91440" tIns="45720" rIns="91440" bIns="45720" rtlCol="0" anchor="t">
            <a:normAutofit/>
          </a:bodyPr>
          <a:lstStyle/>
          <a:p>
            <a:pPr marL="0" indent="0" algn="ctr">
              <a:buNone/>
            </a:pPr>
            <a:r>
              <a:rPr lang="en-US" dirty="0"/>
              <a:t>Reddit</a:t>
            </a:r>
          </a:p>
          <a:p>
            <a:r>
              <a:rPr lang="en-US" dirty="0"/>
              <a:t>Posts from victims about their scamming experience</a:t>
            </a:r>
          </a:p>
          <a:p>
            <a:r>
              <a:rPr lang="en-US" dirty="0"/>
              <a:t>Posts frequently described fear, shame, panic, and uncertainty</a:t>
            </a:r>
          </a:p>
          <a:p>
            <a:r>
              <a:rPr lang="en-US" dirty="0"/>
              <a:t>Reports highlight the psychological effects scammers cause</a:t>
            </a:r>
          </a:p>
          <a:p>
            <a:r>
              <a:rPr lang="en-US" dirty="0"/>
              <a:t>Despite the emotional diversity, the scam structures themselves remained consistent </a:t>
            </a:r>
          </a:p>
        </p:txBody>
      </p:sp>
      <p:sp>
        <p:nvSpPr>
          <p:cNvPr id="4" name="Date Placeholder 3">
            <a:extLst>
              <a:ext uri="{FF2B5EF4-FFF2-40B4-BE49-F238E27FC236}">
                <a16:creationId xmlns:a16="http://schemas.microsoft.com/office/drawing/2014/main" id="{E454E250-FB19-723D-78D9-883DF28BAB95}"/>
              </a:ext>
            </a:extLst>
          </p:cNvPr>
          <p:cNvSpPr>
            <a:spLocks noGrp="1"/>
          </p:cNvSpPr>
          <p:nvPr>
            <p:ph type="dt" sz="half" idx="10"/>
          </p:nvPr>
        </p:nvSpPr>
        <p:spPr/>
        <p:txBody>
          <a:bodyPr/>
          <a:lstStyle/>
          <a:p>
            <a:fld id="{1F294998-EC41-44F9-B4DF-D6CFBE19874B}" type="datetime1">
              <a:t>11/28/2025</a:t>
            </a:fld>
            <a:endParaRPr lang="en-US" dirty="0"/>
          </a:p>
        </p:txBody>
      </p:sp>
      <p:sp>
        <p:nvSpPr>
          <p:cNvPr id="5" name="Footer Placeholder 4">
            <a:extLst>
              <a:ext uri="{FF2B5EF4-FFF2-40B4-BE49-F238E27FC236}">
                <a16:creationId xmlns:a16="http://schemas.microsoft.com/office/drawing/2014/main" id="{9B873CBA-B9F7-B1E5-E8ED-D5C1B55B7F2D}"/>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21FECC7-11CA-9920-9668-642BBFC10814}"/>
              </a:ext>
            </a:extLst>
          </p:cNvPr>
          <p:cNvSpPr>
            <a:spLocks noGrp="1"/>
          </p:cNvSpPr>
          <p:nvPr>
            <p:ph type="sldNum" sz="quarter" idx="12"/>
          </p:nvPr>
        </p:nvSpPr>
        <p:spPr/>
        <p:txBody>
          <a:bodyPr/>
          <a:lstStyle/>
          <a:p>
            <a:fld id="{5E4DE196-8A13-4FF7-A07E-102851959EAB}" type="slidenum">
              <a:rPr lang="en-US" dirty="0"/>
              <a:t>9</a:t>
            </a:fld>
            <a:endParaRPr lang="en-US" dirty="0"/>
          </a:p>
        </p:txBody>
      </p:sp>
      <p:pic>
        <p:nvPicPr>
          <p:cNvPr id="8" name="Picture 7" descr="A screenshot of a computer screen&#10;&#10;AI-generated content may be incorrect.">
            <a:extLst>
              <a:ext uri="{FF2B5EF4-FFF2-40B4-BE49-F238E27FC236}">
                <a16:creationId xmlns:a16="http://schemas.microsoft.com/office/drawing/2014/main" id="{AE59D6C9-6CED-8B71-9322-04402803BAD7}"/>
              </a:ext>
            </a:extLst>
          </p:cNvPr>
          <p:cNvPicPr>
            <a:picLocks noChangeAspect="1"/>
          </p:cNvPicPr>
          <p:nvPr/>
        </p:nvPicPr>
        <p:blipFill>
          <a:blip r:embed="rId2"/>
          <a:stretch>
            <a:fillRect/>
          </a:stretch>
        </p:blipFill>
        <p:spPr>
          <a:xfrm>
            <a:off x="138102" y="2153686"/>
            <a:ext cx="8059561" cy="3924635"/>
          </a:xfrm>
          <a:prstGeom prst="rect">
            <a:avLst/>
          </a:prstGeom>
        </p:spPr>
      </p:pic>
    </p:spTree>
    <p:extLst>
      <p:ext uri="{BB962C8B-B14F-4D97-AF65-F5344CB8AC3E}">
        <p14:creationId xmlns:p14="http://schemas.microsoft.com/office/powerpoint/2010/main" val="9112531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4F782-FB11-71C9-B9ED-47CE183D415A}"/>
              </a:ext>
            </a:extLst>
          </p:cNvPr>
          <p:cNvSpPr>
            <a:spLocks noGrp="1"/>
          </p:cNvSpPr>
          <p:nvPr>
            <p:ph type="title"/>
          </p:nvPr>
        </p:nvSpPr>
        <p:spPr/>
        <p:txBody>
          <a:bodyPr/>
          <a:lstStyle/>
          <a:p>
            <a:r>
              <a:rPr lang="en-US" dirty="0"/>
              <a:t>Key Findings #3</a:t>
            </a:r>
          </a:p>
        </p:txBody>
      </p:sp>
      <p:sp>
        <p:nvSpPr>
          <p:cNvPr id="3" name="Content Placeholder 2">
            <a:extLst>
              <a:ext uri="{FF2B5EF4-FFF2-40B4-BE49-F238E27FC236}">
                <a16:creationId xmlns:a16="http://schemas.microsoft.com/office/drawing/2014/main" id="{F0C0482E-B5F8-99D8-FB3E-87197CD3BA68}"/>
              </a:ext>
            </a:extLst>
          </p:cNvPr>
          <p:cNvSpPr>
            <a:spLocks noGrp="1"/>
          </p:cNvSpPr>
          <p:nvPr>
            <p:ph idx="1"/>
          </p:nvPr>
        </p:nvSpPr>
        <p:spPr>
          <a:xfrm>
            <a:off x="7722494" y="1278732"/>
            <a:ext cx="3978778" cy="5476804"/>
          </a:xfrm>
        </p:spPr>
        <p:txBody>
          <a:bodyPr vert="horz" lIns="91440" tIns="45720" rIns="91440" bIns="45720" rtlCol="0" anchor="t">
            <a:normAutofit/>
          </a:bodyPr>
          <a:lstStyle/>
          <a:p>
            <a:pPr marL="0" indent="0" algn="ctr">
              <a:buNone/>
            </a:pPr>
            <a:r>
              <a:rPr lang="en-US" dirty="0" err="1"/>
              <a:t>Ransomware.live</a:t>
            </a:r>
          </a:p>
          <a:p>
            <a:r>
              <a:rPr lang="en-US" dirty="0"/>
              <a:t>Ransom notes from ransomware groups</a:t>
            </a:r>
          </a:p>
          <a:p>
            <a:r>
              <a:rPr lang="en-US" dirty="0"/>
              <a:t>Notes followed a rigid structure that included confirmation of compromise, explanation of encryption or data theft, payment instructions and escalation warnings</a:t>
            </a:r>
          </a:p>
          <a:p>
            <a:r>
              <a:rPr lang="en-US" dirty="0"/>
              <a:t>Based on data saturation results, ransomware groups operate using predefined communication frameworks that mirror corporate-style processes</a:t>
            </a:r>
          </a:p>
          <a:p>
            <a:r>
              <a:rPr lang="en-US" dirty="0"/>
              <a:t>The linguistic patterns revealed that scammers rather a professionalized threat format than emotional improvisation</a:t>
            </a:r>
          </a:p>
          <a:p>
            <a:endParaRPr lang="en-US" dirty="0"/>
          </a:p>
        </p:txBody>
      </p:sp>
      <p:sp>
        <p:nvSpPr>
          <p:cNvPr id="4" name="Date Placeholder 3">
            <a:extLst>
              <a:ext uri="{FF2B5EF4-FFF2-40B4-BE49-F238E27FC236}">
                <a16:creationId xmlns:a16="http://schemas.microsoft.com/office/drawing/2014/main" id="{4F2DBE7C-72E1-0E33-0E83-97F99CDCE6AA}"/>
              </a:ext>
            </a:extLst>
          </p:cNvPr>
          <p:cNvSpPr>
            <a:spLocks noGrp="1"/>
          </p:cNvSpPr>
          <p:nvPr>
            <p:ph type="dt" sz="half" idx="10"/>
          </p:nvPr>
        </p:nvSpPr>
        <p:spPr/>
        <p:txBody>
          <a:bodyPr/>
          <a:lstStyle/>
          <a:p>
            <a:fld id="{ABF6547F-42EE-463F-9E46-27A169B22BE3}" type="datetime1">
              <a:t>11/28/2025</a:t>
            </a:fld>
            <a:endParaRPr lang="en-US" dirty="0"/>
          </a:p>
        </p:txBody>
      </p:sp>
      <p:sp>
        <p:nvSpPr>
          <p:cNvPr id="5" name="Footer Placeholder 4">
            <a:extLst>
              <a:ext uri="{FF2B5EF4-FFF2-40B4-BE49-F238E27FC236}">
                <a16:creationId xmlns:a16="http://schemas.microsoft.com/office/drawing/2014/main" id="{6BA7FB09-4D3C-C01D-46CA-5918C083963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960C7174-6376-B41E-74DA-D53F48C90890}"/>
              </a:ext>
            </a:extLst>
          </p:cNvPr>
          <p:cNvSpPr>
            <a:spLocks noGrp="1"/>
          </p:cNvSpPr>
          <p:nvPr>
            <p:ph type="sldNum" sz="quarter" idx="12"/>
          </p:nvPr>
        </p:nvSpPr>
        <p:spPr/>
        <p:txBody>
          <a:bodyPr/>
          <a:lstStyle/>
          <a:p>
            <a:fld id="{5E4DE196-8A13-4FF7-A07E-102851959EAB}" type="slidenum">
              <a:rPr lang="en-US" dirty="0"/>
              <a:t>10</a:t>
            </a:fld>
            <a:endParaRPr lang="en-US" dirty="0"/>
          </a:p>
        </p:txBody>
      </p:sp>
      <p:sp>
        <p:nvSpPr>
          <p:cNvPr id="7" name="Footer Placeholder 4">
            <a:extLst>
              <a:ext uri="{FF2B5EF4-FFF2-40B4-BE49-F238E27FC236}">
                <a16:creationId xmlns:a16="http://schemas.microsoft.com/office/drawing/2014/main" id="{9CFADD16-95E6-0176-890C-B85077C67645}"/>
              </a:ext>
            </a:extLst>
          </p:cNvPr>
          <p:cNvSpPr>
            <a:spLocks noGrp="1"/>
          </p:cNvSpPr>
          <p:nvPr/>
        </p:nvSpPr>
        <p:spPr>
          <a:xfrm>
            <a:off x="7132320" y="6356350"/>
            <a:ext cx="4297680" cy="365125"/>
          </a:xfrm>
          <a:prstGeom prst="rect">
            <a:avLst/>
          </a:prstGeom>
        </p:spPr>
        <p:txBody>
          <a:bodyPr vert="horz" lIns="91440" tIns="45720" rIns="91440" bIns="45720" rtlCol="0" anchor="ctr"/>
          <a:lstStyle>
            <a:defPPr>
              <a:defRPr lang="en-US"/>
            </a:defPPr>
            <a:lvl1pPr marL="0" algn="r" defTabSz="914400" rtl="0" eaLnBrk="1" latinLnBrk="0" hangingPunct="1">
              <a:defRPr sz="800" kern="1200" cap="all" spc="300" baseline="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
              </a:t>
            </a:r>
          </a:p>
        </p:txBody>
      </p:sp>
      <p:sp>
        <p:nvSpPr>
          <p:cNvPr id="8" name="Slide Number Placeholder 5">
            <a:extLst>
              <a:ext uri="{FF2B5EF4-FFF2-40B4-BE49-F238E27FC236}">
                <a16:creationId xmlns:a16="http://schemas.microsoft.com/office/drawing/2014/main" id="{99E1494C-30D2-9C2C-BB50-226ABC39AAA4}"/>
              </a:ext>
            </a:extLst>
          </p:cNvPr>
          <p:cNvSpPr>
            <a:spLocks noGrp="1"/>
          </p:cNvSpPr>
          <p:nvPr/>
        </p:nvSpPr>
        <p:spPr>
          <a:xfrm>
            <a:off x="11429999" y="6356350"/>
            <a:ext cx="521207" cy="365125"/>
          </a:xfrm>
          <a:prstGeom prst="rect">
            <a:avLst/>
          </a:prstGeom>
        </p:spPr>
        <p:txBody>
          <a:bodyPr vert="horz" lIns="91440" tIns="45720" rIns="91440" bIns="45720" rtlCol="0" anchor="ctr"/>
          <a:lstStyle>
            <a:defPPr>
              <a:defRPr lang="en-US"/>
            </a:defPPr>
            <a:lvl1pPr marL="0" algn="r" defTabSz="914400" rtl="0" eaLnBrk="1" latinLnBrk="0" hangingPunct="1">
              <a:defRPr sz="1400" kern="1200">
                <a:solidFill>
                  <a:schemeClr val="tx2"/>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4DE196-8A13-4FF7-A07E-102851959EAB}" type="slidenum">
              <a:rPr lang="en-US" dirty="0"/>
              <a:pPr/>
              <a:t>10</a:t>
            </a:fld>
            <a:endParaRPr lang="en-US" dirty="0"/>
          </a:p>
        </p:txBody>
      </p:sp>
      <p:pic>
        <p:nvPicPr>
          <p:cNvPr id="11" name="Picture 10" descr="A screenshot of a computer&#10;&#10;AI-generated content may be incorrect.">
            <a:extLst>
              <a:ext uri="{FF2B5EF4-FFF2-40B4-BE49-F238E27FC236}">
                <a16:creationId xmlns:a16="http://schemas.microsoft.com/office/drawing/2014/main" id="{9FD37923-75A3-79ED-15F8-6664232745E6}"/>
              </a:ext>
            </a:extLst>
          </p:cNvPr>
          <p:cNvPicPr>
            <a:picLocks noChangeAspect="1"/>
          </p:cNvPicPr>
          <p:nvPr/>
        </p:nvPicPr>
        <p:blipFill>
          <a:blip r:embed="rId2"/>
          <a:stretch>
            <a:fillRect/>
          </a:stretch>
        </p:blipFill>
        <p:spPr>
          <a:xfrm>
            <a:off x="-330" y="2097243"/>
            <a:ext cx="7136757" cy="3848701"/>
          </a:xfrm>
          <a:prstGeom prst="rect">
            <a:avLst/>
          </a:prstGeom>
        </p:spPr>
      </p:pic>
    </p:spTree>
    <p:extLst>
      <p:ext uri="{BB962C8B-B14F-4D97-AF65-F5344CB8AC3E}">
        <p14:creationId xmlns:p14="http://schemas.microsoft.com/office/powerpoint/2010/main" val="31714284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5C48A-43B4-E84E-4B7D-C89C55A0FF19}"/>
              </a:ext>
            </a:extLst>
          </p:cNvPr>
          <p:cNvSpPr>
            <a:spLocks noGrp="1"/>
          </p:cNvSpPr>
          <p:nvPr>
            <p:ph type="title"/>
          </p:nvPr>
        </p:nvSpPr>
        <p:spPr/>
        <p:txBody>
          <a:bodyPr/>
          <a:lstStyle/>
          <a:p>
            <a:r>
              <a:rPr lang="en-US" dirty="0"/>
              <a:t>Summary of Findings</a:t>
            </a:r>
          </a:p>
        </p:txBody>
      </p:sp>
      <p:sp>
        <p:nvSpPr>
          <p:cNvPr id="3" name="Content Placeholder 2">
            <a:extLst>
              <a:ext uri="{FF2B5EF4-FFF2-40B4-BE49-F238E27FC236}">
                <a16:creationId xmlns:a16="http://schemas.microsoft.com/office/drawing/2014/main" id="{529C41A8-F52C-9FAD-C6A5-5DA62D6757C4}"/>
              </a:ext>
            </a:extLst>
          </p:cNvPr>
          <p:cNvSpPr>
            <a:spLocks noGrp="1"/>
          </p:cNvSpPr>
          <p:nvPr>
            <p:ph idx="1"/>
          </p:nvPr>
        </p:nvSpPr>
        <p:spPr/>
        <p:txBody>
          <a:bodyPr vert="horz" lIns="91440" tIns="45720" rIns="91440" bIns="45720" rtlCol="0" anchor="t">
            <a:normAutofit/>
          </a:bodyPr>
          <a:lstStyle/>
          <a:p>
            <a:r>
              <a:rPr lang="en-US" sz="2000" dirty="0"/>
              <a:t>Although the datasets showed different tone, structure, and origin, they all demonstrate that modern blackmail operations follow a limited and repeatable set of strategies</a:t>
            </a:r>
          </a:p>
          <a:p>
            <a:r>
              <a:rPr lang="en-US" sz="2000" dirty="0"/>
              <a:t>These strategies may shift in presentation but not in logic</a:t>
            </a:r>
          </a:p>
          <a:p>
            <a:r>
              <a:rPr lang="en-US" sz="2000" dirty="0"/>
              <a:t>The early saturation from all three datasets confirms that the sources capture a comprehensive range of dominant blackmail tactics, supporting the reliability and legitimacy of the code book framework.</a:t>
            </a:r>
          </a:p>
          <a:p>
            <a:endParaRPr lang="en-US" dirty="0"/>
          </a:p>
        </p:txBody>
      </p:sp>
      <p:sp>
        <p:nvSpPr>
          <p:cNvPr id="4" name="Date Placeholder 3">
            <a:extLst>
              <a:ext uri="{FF2B5EF4-FFF2-40B4-BE49-F238E27FC236}">
                <a16:creationId xmlns:a16="http://schemas.microsoft.com/office/drawing/2014/main" id="{24D25B5D-0D13-203A-DBC2-CC8624C10D6F}"/>
              </a:ext>
            </a:extLst>
          </p:cNvPr>
          <p:cNvSpPr>
            <a:spLocks noGrp="1"/>
          </p:cNvSpPr>
          <p:nvPr>
            <p:ph type="dt" sz="half" idx="10"/>
          </p:nvPr>
        </p:nvSpPr>
        <p:spPr/>
        <p:txBody>
          <a:bodyPr/>
          <a:lstStyle/>
          <a:p>
            <a:fld id="{0B357F26-0689-447B-B394-0F851527553F}" type="datetime1">
              <a:t>11/28/2025</a:t>
            </a:fld>
            <a:endParaRPr lang="en-US" dirty="0"/>
          </a:p>
        </p:txBody>
      </p:sp>
      <p:sp>
        <p:nvSpPr>
          <p:cNvPr id="5" name="Footer Placeholder 4">
            <a:extLst>
              <a:ext uri="{FF2B5EF4-FFF2-40B4-BE49-F238E27FC236}">
                <a16:creationId xmlns:a16="http://schemas.microsoft.com/office/drawing/2014/main" id="{97A077B6-2DEF-2008-F228-35A28FF88A29}"/>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E53810A4-BB47-DE80-CF2B-73F8A86D31B3}"/>
              </a:ext>
            </a:extLst>
          </p:cNvPr>
          <p:cNvSpPr>
            <a:spLocks noGrp="1"/>
          </p:cNvSpPr>
          <p:nvPr>
            <p:ph type="sldNum" sz="quarter" idx="12"/>
          </p:nvPr>
        </p:nvSpPr>
        <p:spPr/>
        <p:txBody>
          <a:bodyPr/>
          <a:lstStyle/>
          <a:p>
            <a:fld id="{5E4DE196-8A13-4FF7-A07E-102851959EAB}" type="slidenum">
              <a:rPr lang="en-US" dirty="0"/>
              <a:t>11</a:t>
            </a:fld>
            <a:endParaRPr lang="en-US" dirty="0"/>
          </a:p>
        </p:txBody>
      </p:sp>
    </p:spTree>
    <p:extLst>
      <p:ext uri="{BB962C8B-B14F-4D97-AF65-F5344CB8AC3E}">
        <p14:creationId xmlns:p14="http://schemas.microsoft.com/office/powerpoint/2010/main" val="243446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3B0B9-4668-096B-B142-35BDCEFCE1DA}"/>
              </a:ext>
            </a:extLst>
          </p:cNvPr>
          <p:cNvSpPr>
            <a:spLocks noGrp="1"/>
          </p:cNvSpPr>
          <p:nvPr>
            <p:ph type="title"/>
          </p:nvPr>
        </p:nvSpPr>
        <p:spPr/>
        <p:txBody>
          <a:bodyPr/>
          <a:lstStyle/>
          <a:p>
            <a:r>
              <a:rPr lang="en-US" dirty="0"/>
              <a:t>Discussion</a:t>
            </a:r>
          </a:p>
        </p:txBody>
      </p:sp>
      <p:sp>
        <p:nvSpPr>
          <p:cNvPr id="3" name="Content Placeholder 2">
            <a:extLst>
              <a:ext uri="{FF2B5EF4-FFF2-40B4-BE49-F238E27FC236}">
                <a16:creationId xmlns:a16="http://schemas.microsoft.com/office/drawing/2014/main" id="{879ECF2C-5109-EE50-D0EF-CAF706EB3CA4}"/>
              </a:ext>
            </a:extLst>
          </p:cNvPr>
          <p:cNvSpPr>
            <a:spLocks noGrp="1"/>
          </p:cNvSpPr>
          <p:nvPr>
            <p:ph idx="1"/>
          </p:nvPr>
        </p:nvSpPr>
        <p:spPr/>
        <p:txBody>
          <a:bodyPr vert="horz" lIns="91440" tIns="45720" rIns="91440" bIns="45720" rtlCol="0" anchor="t">
            <a:normAutofit/>
          </a:bodyPr>
          <a:lstStyle/>
          <a:p>
            <a:r>
              <a:rPr lang="en-US" dirty="0"/>
              <a:t>Blackmail scammers across email and social media sextortion, social engineering extortion, and ransomware operations heavily rely on emotional and psychological leverage rather than technical sophistication alone</a:t>
            </a:r>
          </a:p>
          <a:p>
            <a:r>
              <a:rPr lang="en-US" dirty="0"/>
              <a:t>Thematic themes </a:t>
            </a:r>
          </a:p>
          <a:p>
            <a:pPr lvl="1">
              <a:buFont typeface="Courier New" panose="020B0604020202020204" pitchFamily="34" charset="0"/>
              <a:buChar char="o"/>
            </a:pPr>
            <a:r>
              <a:rPr lang="en-US" dirty="0"/>
              <a:t>threat escalation, </a:t>
            </a:r>
          </a:p>
          <a:p>
            <a:pPr lvl="1">
              <a:buFont typeface="Courier New" panose="020B0604020202020204" pitchFamily="34" charset="0"/>
              <a:buChar char="o"/>
            </a:pPr>
            <a:r>
              <a:rPr lang="en-US" dirty="0"/>
              <a:t>social exposure fear, </a:t>
            </a:r>
          </a:p>
          <a:p>
            <a:pPr lvl="1">
              <a:buFont typeface="Courier New" panose="020B0604020202020204" pitchFamily="34" charset="0"/>
              <a:buChar char="o"/>
            </a:pPr>
            <a:r>
              <a:rPr lang="en-US" dirty="0"/>
              <a:t>payment urgency,</a:t>
            </a:r>
          </a:p>
          <a:p>
            <a:pPr lvl="1">
              <a:buFont typeface="Courier New" panose="020B0604020202020204" pitchFamily="34" charset="0"/>
              <a:buChar char="o"/>
            </a:pPr>
            <a:r>
              <a:rPr lang="en-US" dirty="0"/>
              <a:t>identity claim, </a:t>
            </a:r>
          </a:p>
          <a:p>
            <a:pPr lvl="1">
              <a:buFont typeface="Courier New" panose="020B0604020202020204" pitchFamily="34" charset="0"/>
              <a:buChar char="o"/>
            </a:pPr>
            <a:r>
              <a:rPr lang="en-US" dirty="0"/>
              <a:t>authority impersonation</a:t>
            </a:r>
          </a:p>
          <a:p>
            <a:r>
              <a:rPr lang="en-US" dirty="0"/>
              <a:t>Consistency of psychological tactics regardless of platform</a:t>
            </a:r>
          </a:p>
          <a:p>
            <a:r>
              <a:rPr lang="en-US" dirty="0"/>
              <a:t>Scammers rely on anonymity, automation, low-effort message templates while victims face emotional burden, shame, uncertainty</a:t>
            </a:r>
          </a:p>
        </p:txBody>
      </p:sp>
      <p:sp>
        <p:nvSpPr>
          <p:cNvPr id="4" name="Date Placeholder 3">
            <a:extLst>
              <a:ext uri="{FF2B5EF4-FFF2-40B4-BE49-F238E27FC236}">
                <a16:creationId xmlns:a16="http://schemas.microsoft.com/office/drawing/2014/main" id="{3C6E2882-1B9A-A843-9694-43A988BB9C6C}"/>
              </a:ext>
            </a:extLst>
          </p:cNvPr>
          <p:cNvSpPr>
            <a:spLocks noGrp="1"/>
          </p:cNvSpPr>
          <p:nvPr>
            <p:ph type="dt" sz="half" idx="10"/>
          </p:nvPr>
        </p:nvSpPr>
        <p:spPr/>
        <p:txBody>
          <a:bodyPr/>
          <a:lstStyle/>
          <a:p>
            <a:fld id="{7C27A5ED-300E-4C7B-8BD6-2E49A88BB2B3}" type="datetime1">
              <a:t>11/28/2025</a:t>
            </a:fld>
            <a:endParaRPr lang="en-US" dirty="0"/>
          </a:p>
        </p:txBody>
      </p:sp>
      <p:sp>
        <p:nvSpPr>
          <p:cNvPr id="5" name="Footer Placeholder 4">
            <a:extLst>
              <a:ext uri="{FF2B5EF4-FFF2-40B4-BE49-F238E27FC236}">
                <a16:creationId xmlns:a16="http://schemas.microsoft.com/office/drawing/2014/main" id="{9A89472C-109E-B440-8785-B2FF45DF60AB}"/>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96C62C68-99D6-EAE4-90AB-C02CAE6DB959}"/>
              </a:ext>
            </a:extLst>
          </p:cNvPr>
          <p:cNvSpPr>
            <a:spLocks noGrp="1"/>
          </p:cNvSpPr>
          <p:nvPr>
            <p:ph type="sldNum" sz="quarter" idx="12"/>
          </p:nvPr>
        </p:nvSpPr>
        <p:spPr/>
        <p:txBody>
          <a:bodyPr/>
          <a:lstStyle/>
          <a:p>
            <a:fld id="{5E4DE196-8A13-4FF7-A07E-102851959EAB}" type="slidenum">
              <a:rPr lang="en-US" dirty="0"/>
              <a:t>12</a:t>
            </a:fld>
            <a:endParaRPr lang="en-US" dirty="0"/>
          </a:p>
        </p:txBody>
      </p:sp>
    </p:spTree>
    <p:extLst>
      <p:ext uri="{BB962C8B-B14F-4D97-AF65-F5344CB8AC3E}">
        <p14:creationId xmlns:p14="http://schemas.microsoft.com/office/powerpoint/2010/main" val="38769411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F64E8-5BCC-D345-65C7-8F338DC92142}"/>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0B05DDED-E1EB-7691-405F-B9F303C54B23}"/>
              </a:ext>
            </a:extLst>
          </p:cNvPr>
          <p:cNvSpPr>
            <a:spLocks noGrp="1"/>
          </p:cNvSpPr>
          <p:nvPr>
            <p:ph idx="1"/>
          </p:nvPr>
        </p:nvSpPr>
        <p:spPr/>
        <p:txBody>
          <a:bodyPr vert="horz" lIns="91440" tIns="45720" rIns="91440" bIns="45720" rtlCol="0" anchor="t">
            <a:normAutofit/>
          </a:bodyPr>
          <a:lstStyle/>
          <a:p>
            <a:r>
              <a:rPr lang="en-US" dirty="0"/>
              <a:t>The findings highlight the consistency and predictability underlying many scam behaviors</a:t>
            </a:r>
          </a:p>
          <a:p>
            <a:r>
              <a:rPr lang="en-US" dirty="0"/>
              <a:t>Several categories were found across all data types; they showed clear linguistic and behavioral patterns including repeated demands of payment, appeals to urgency or authority, and the reuse of identical or near-identical messages</a:t>
            </a:r>
          </a:p>
          <a:p>
            <a:r>
              <a:rPr lang="en-US" dirty="0"/>
              <a:t>The insights found from the analytical pipeline reinforce the importance of computational methods for monitoring emergent threats and understanding the evolving nature of online fraud</a:t>
            </a:r>
          </a:p>
          <a:p>
            <a:r>
              <a:rPr lang="en-US" dirty="0"/>
              <a:t>Structured data processing and pattern-focused analysis can meaningfully enhance our understanding of blackmailing scams/ransomware operations</a:t>
            </a:r>
          </a:p>
          <a:p>
            <a:r>
              <a:rPr lang="en-US" dirty="0"/>
              <a:t>As online fraud continues to increase, such data-driven approaches will be essential to people like researchers, investigators, and policymakers seeking to develop targeted countermeasures and improve public awareness</a:t>
            </a:r>
          </a:p>
        </p:txBody>
      </p:sp>
      <p:sp>
        <p:nvSpPr>
          <p:cNvPr id="4" name="Date Placeholder 3">
            <a:extLst>
              <a:ext uri="{FF2B5EF4-FFF2-40B4-BE49-F238E27FC236}">
                <a16:creationId xmlns:a16="http://schemas.microsoft.com/office/drawing/2014/main" id="{8E69E03E-62A8-DB90-7F10-F7B2F01BA916}"/>
              </a:ext>
            </a:extLst>
          </p:cNvPr>
          <p:cNvSpPr>
            <a:spLocks noGrp="1"/>
          </p:cNvSpPr>
          <p:nvPr>
            <p:ph type="dt" sz="half" idx="10"/>
          </p:nvPr>
        </p:nvSpPr>
        <p:spPr/>
        <p:txBody>
          <a:bodyPr/>
          <a:lstStyle/>
          <a:p>
            <a:fld id="{2A2A048E-8F25-4EC5-B981-A0E389B36C54}" type="datetime1">
              <a:t>11/28/2025</a:t>
            </a:fld>
            <a:endParaRPr lang="en-US" dirty="0"/>
          </a:p>
        </p:txBody>
      </p:sp>
      <p:sp>
        <p:nvSpPr>
          <p:cNvPr id="5" name="Footer Placeholder 4">
            <a:extLst>
              <a:ext uri="{FF2B5EF4-FFF2-40B4-BE49-F238E27FC236}">
                <a16:creationId xmlns:a16="http://schemas.microsoft.com/office/drawing/2014/main" id="{BE5BDA93-C027-6D0D-D118-8E79740B1C30}"/>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08750AD7-4CE7-36F6-E921-72C772DFB59B}"/>
              </a:ext>
            </a:extLst>
          </p:cNvPr>
          <p:cNvSpPr>
            <a:spLocks noGrp="1"/>
          </p:cNvSpPr>
          <p:nvPr>
            <p:ph type="sldNum" sz="quarter" idx="12"/>
          </p:nvPr>
        </p:nvSpPr>
        <p:spPr/>
        <p:txBody>
          <a:bodyPr/>
          <a:lstStyle/>
          <a:p>
            <a:fld id="{5E4DE196-8A13-4FF7-A07E-102851959EAB}" type="slidenum">
              <a:rPr lang="en-US" dirty="0"/>
              <a:t>13</a:t>
            </a:fld>
            <a:endParaRPr lang="en-US" dirty="0"/>
          </a:p>
        </p:txBody>
      </p:sp>
    </p:spTree>
    <p:extLst>
      <p:ext uri="{BB962C8B-B14F-4D97-AF65-F5344CB8AC3E}">
        <p14:creationId xmlns:p14="http://schemas.microsoft.com/office/powerpoint/2010/main" val="35155419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4DD08-EF85-E443-8E40-6C06B3BAD128}"/>
              </a:ext>
            </a:extLst>
          </p:cNvPr>
          <p:cNvSpPr>
            <a:spLocks noGrp="1"/>
          </p:cNvSpPr>
          <p:nvPr>
            <p:ph type="title"/>
          </p:nvPr>
        </p:nvSpPr>
        <p:spPr/>
        <p:txBody>
          <a:bodyPr/>
          <a:lstStyle/>
          <a:p>
            <a:r>
              <a:rPr lang="en-US" dirty="0"/>
              <a:t>Future Thoughts</a:t>
            </a:r>
          </a:p>
        </p:txBody>
      </p:sp>
      <p:sp>
        <p:nvSpPr>
          <p:cNvPr id="3" name="Content Placeholder 2">
            <a:extLst>
              <a:ext uri="{FF2B5EF4-FFF2-40B4-BE49-F238E27FC236}">
                <a16:creationId xmlns:a16="http://schemas.microsoft.com/office/drawing/2014/main" id="{C0BDB911-4FA9-552C-C372-488662EE44DD}"/>
              </a:ext>
            </a:extLst>
          </p:cNvPr>
          <p:cNvSpPr>
            <a:spLocks noGrp="1"/>
          </p:cNvSpPr>
          <p:nvPr>
            <p:ph idx="1"/>
          </p:nvPr>
        </p:nvSpPr>
        <p:spPr/>
        <p:txBody>
          <a:bodyPr vert="horz" lIns="91440" tIns="45720" rIns="91440" bIns="45720" rtlCol="0" anchor="t">
            <a:normAutofit/>
          </a:bodyPr>
          <a:lstStyle/>
          <a:p>
            <a:r>
              <a:rPr lang="en-US" dirty="0"/>
              <a:t>Conduct an experiment to get high-quality data</a:t>
            </a:r>
          </a:p>
          <a:p>
            <a:pPr lvl="1">
              <a:buFont typeface="Courier New" panose="020B0604020202020204" pitchFamily="34" charset="0"/>
              <a:buChar char="o"/>
            </a:pPr>
            <a:r>
              <a:rPr lang="en-US" dirty="0"/>
              <a:t>Collect data from a scammer</a:t>
            </a:r>
          </a:p>
          <a:p>
            <a:pPr lvl="1">
              <a:buFont typeface="Courier New" panose="020B0604020202020204" pitchFamily="34" charset="0"/>
              <a:buChar char="o"/>
            </a:pPr>
            <a:endParaRPr lang="en-US" dirty="0"/>
          </a:p>
          <a:p>
            <a:r>
              <a:rPr lang="en-US" dirty="0"/>
              <a:t>Collect data from the Dark Web</a:t>
            </a:r>
          </a:p>
          <a:p>
            <a:pPr lvl="1">
              <a:buFont typeface="Courier New" panose="020B0604020202020204" pitchFamily="34" charset="0"/>
              <a:buChar char="o"/>
            </a:pPr>
            <a:r>
              <a:rPr lang="en-US" dirty="0"/>
              <a:t>Use this data against scammers all around</a:t>
            </a:r>
          </a:p>
          <a:p>
            <a:pPr lvl="1">
              <a:buFont typeface="Courier New" panose="020B0604020202020204" pitchFamily="34" charset="0"/>
              <a:buChar char="o"/>
            </a:pPr>
            <a:endParaRPr lang="en-US" dirty="0"/>
          </a:p>
          <a:p>
            <a:r>
              <a:rPr lang="en-US" dirty="0"/>
              <a:t>Research other types of scamming to add to the code book</a:t>
            </a:r>
          </a:p>
          <a:p>
            <a:pPr lvl="1">
              <a:buFont typeface="Courier New" panose="020B0604020202020204" pitchFamily="34" charset="0"/>
              <a:buChar char="o"/>
            </a:pPr>
            <a:r>
              <a:rPr lang="en-US" dirty="0"/>
              <a:t>Look into other scams and try to create a resource/countermeasures against them</a:t>
            </a:r>
          </a:p>
        </p:txBody>
      </p:sp>
      <p:sp>
        <p:nvSpPr>
          <p:cNvPr id="4" name="Date Placeholder 3">
            <a:extLst>
              <a:ext uri="{FF2B5EF4-FFF2-40B4-BE49-F238E27FC236}">
                <a16:creationId xmlns:a16="http://schemas.microsoft.com/office/drawing/2014/main" id="{38903312-104D-A103-9E80-91D5E53A5AF6}"/>
              </a:ext>
            </a:extLst>
          </p:cNvPr>
          <p:cNvSpPr>
            <a:spLocks noGrp="1"/>
          </p:cNvSpPr>
          <p:nvPr>
            <p:ph type="dt" sz="half" idx="10"/>
          </p:nvPr>
        </p:nvSpPr>
        <p:spPr/>
        <p:txBody>
          <a:bodyPr/>
          <a:lstStyle/>
          <a:p>
            <a:fld id="{849DDA78-52B0-413C-B2A8-BA26D2951C68}" type="datetime1">
              <a:t>11/28/2025</a:t>
            </a:fld>
            <a:endParaRPr lang="en-US" dirty="0"/>
          </a:p>
        </p:txBody>
      </p:sp>
      <p:sp>
        <p:nvSpPr>
          <p:cNvPr id="5" name="Footer Placeholder 4">
            <a:extLst>
              <a:ext uri="{FF2B5EF4-FFF2-40B4-BE49-F238E27FC236}">
                <a16:creationId xmlns:a16="http://schemas.microsoft.com/office/drawing/2014/main" id="{5DEC1400-D55A-0B09-6C03-B76729987330}"/>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61B51096-6347-0274-E55E-7DC5E91ABF5E}"/>
              </a:ext>
            </a:extLst>
          </p:cNvPr>
          <p:cNvSpPr>
            <a:spLocks noGrp="1"/>
          </p:cNvSpPr>
          <p:nvPr>
            <p:ph type="sldNum" sz="quarter" idx="12"/>
          </p:nvPr>
        </p:nvSpPr>
        <p:spPr/>
        <p:txBody>
          <a:bodyPr/>
          <a:lstStyle/>
          <a:p>
            <a:fld id="{5E4DE196-8A13-4FF7-A07E-102851959EAB}" type="slidenum">
              <a:rPr lang="en-US" dirty="0"/>
              <a:t>14</a:t>
            </a:fld>
            <a:endParaRPr lang="en-US" dirty="0"/>
          </a:p>
        </p:txBody>
      </p:sp>
    </p:spTree>
    <p:extLst>
      <p:ext uri="{BB962C8B-B14F-4D97-AF65-F5344CB8AC3E}">
        <p14:creationId xmlns:p14="http://schemas.microsoft.com/office/powerpoint/2010/main" val="29739322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13AC1-B7A0-A5CD-F29C-95B13AA6E86E}"/>
              </a:ext>
            </a:extLst>
          </p:cNvPr>
          <p:cNvSpPr>
            <a:spLocks noGrp="1"/>
          </p:cNvSpPr>
          <p:nvPr>
            <p:ph type="title"/>
          </p:nvPr>
        </p:nvSpPr>
        <p:spPr>
          <a:xfrm>
            <a:off x="871108" y="2158149"/>
            <a:ext cx="10449784" cy="1265928"/>
          </a:xfrm>
        </p:spPr>
        <p:txBody>
          <a:bodyPr/>
          <a:lstStyle/>
          <a:p>
            <a:pPr algn="ctr"/>
            <a:r>
              <a:rPr lang="en-US" dirty="0"/>
              <a:t>Questions?</a:t>
            </a:r>
            <a:endParaRPr lang="en-US"/>
          </a:p>
        </p:txBody>
      </p:sp>
      <p:sp>
        <p:nvSpPr>
          <p:cNvPr id="4" name="Date Placeholder 3">
            <a:extLst>
              <a:ext uri="{FF2B5EF4-FFF2-40B4-BE49-F238E27FC236}">
                <a16:creationId xmlns:a16="http://schemas.microsoft.com/office/drawing/2014/main" id="{A079D0D7-59A9-2B45-EB82-AC9E36EC67B2}"/>
              </a:ext>
            </a:extLst>
          </p:cNvPr>
          <p:cNvSpPr>
            <a:spLocks noGrp="1"/>
          </p:cNvSpPr>
          <p:nvPr>
            <p:ph type="dt" sz="half" idx="10"/>
          </p:nvPr>
        </p:nvSpPr>
        <p:spPr/>
        <p:txBody>
          <a:bodyPr/>
          <a:lstStyle/>
          <a:p>
            <a:fld id="{706C6A17-8D37-4306-B3C9-F04C3E53E619}" type="datetime1">
              <a:t>11/28/2025</a:t>
            </a:fld>
            <a:endParaRPr lang="en-US" dirty="0"/>
          </a:p>
        </p:txBody>
      </p:sp>
      <p:sp>
        <p:nvSpPr>
          <p:cNvPr id="5" name="Footer Placeholder 4">
            <a:extLst>
              <a:ext uri="{FF2B5EF4-FFF2-40B4-BE49-F238E27FC236}">
                <a16:creationId xmlns:a16="http://schemas.microsoft.com/office/drawing/2014/main" id="{48E7C486-0806-AB25-87C0-79257C2880A2}"/>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9685432B-4241-9F0B-A228-F5A357C71501}"/>
              </a:ext>
            </a:extLst>
          </p:cNvPr>
          <p:cNvSpPr>
            <a:spLocks noGrp="1"/>
          </p:cNvSpPr>
          <p:nvPr>
            <p:ph type="sldNum" sz="quarter" idx="12"/>
          </p:nvPr>
        </p:nvSpPr>
        <p:spPr/>
        <p:txBody>
          <a:bodyPr/>
          <a:lstStyle/>
          <a:p>
            <a:fld id="{5E4DE196-8A13-4FF7-A07E-102851959EAB}" type="slidenum">
              <a:rPr lang="en-US" dirty="0"/>
              <a:t>15</a:t>
            </a:fld>
            <a:endParaRPr lang="en-US" dirty="0"/>
          </a:p>
        </p:txBody>
      </p:sp>
    </p:spTree>
    <p:extLst>
      <p:ext uri="{BB962C8B-B14F-4D97-AF65-F5344CB8AC3E}">
        <p14:creationId xmlns:p14="http://schemas.microsoft.com/office/powerpoint/2010/main" val="1675613869"/>
      </p:ext>
    </p:extLst>
  </p:cSld>
  <p:clrMapOvr>
    <a:masterClrMapping/>
  </p:clrMapOvr>
</p:sld>
</file>

<file path=ppt/theme/theme1.xml><?xml version="1.0" encoding="utf-8"?>
<a:theme xmlns:a="http://schemas.openxmlformats.org/drawingml/2006/main" name="BohoVogueVTI">
  <a:themeElements>
    <a:clrScheme name="BohoVogueVTI">
      <a:dk1>
        <a:sysClr val="windowText" lastClr="000000"/>
      </a:dk1>
      <a:lt1>
        <a:sysClr val="window" lastClr="FFFFFF"/>
      </a:lt1>
      <a:dk2>
        <a:srgbClr val="35403A"/>
      </a:dk2>
      <a:lt2>
        <a:srgbClr val="F1EFEB"/>
      </a:lt2>
      <a:accent1>
        <a:srgbClr val="9E8B50"/>
      </a:accent1>
      <a:accent2>
        <a:srgbClr val="D5966B"/>
      </a:accent2>
      <a:accent3>
        <a:srgbClr val="9BA6BB"/>
      </a:accent3>
      <a:accent4>
        <a:srgbClr val="869880"/>
      </a:accent4>
      <a:accent5>
        <a:srgbClr val="588267"/>
      </a:accent5>
      <a:accent6>
        <a:srgbClr val="B89C46"/>
      </a:accent6>
      <a:hlink>
        <a:srgbClr val="C77138"/>
      </a:hlink>
      <a:folHlink>
        <a:srgbClr val="589374"/>
      </a:folHlink>
    </a:clrScheme>
    <a:fontScheme name="BohoVogueVTI">
      <a:majorFont>
        <a:latin typeface="Walbaum Display"/>
        <a:ea typeface=""/>
        <a:cs typeface=""/>
      </a:majorFont>
      <a:minorFont>
        <a:latin typeface="Aptos Light"/>
        <a:ea typeface=""/>
        <a:cs typeface=""/>
      </a:minorFont>
    </a:fontScheme>
    <a:fmtScheme name="BohoVogue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BohoVogueVTI" id="{587E0025-A466-4551-A341-1A9F570FDF06}" vid="{F615CBBD-D1BB-4663-887F-92A47C7C6AB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BohoVogueVTI</vt:lpstr>
      <vt:lpstr>Exploration of Blackmail Scam and Creation of Scammer's Codebook </vt:lpstr>
      <vt:lpstr>Introduction</vt:lpstr>
      <vt:lpstr>Research Questions</vt:lpstr>
      <vt:lpstr>Purpose/Significance</vt:lpstr>
      <vt:lpstr>Methodology</vt:lpstr>
      <vt:lpstr>Methodology</vt:lpstr>
      <vt:lpstr>Results</vt:lpstr>
      <vt:lpstr>Key Findings #1</vt:lpstr>
      <vt:lpstr>Key Findings #2</vt:lpstr>
      <vt:lpstr>Key Findings #3</vt:lpstr>
      <vt:lpstr>Summary of Findings</vt:lpstr>
      <vt:lpstr>Discussion</vt:lpstr>
      <vt:lpstr>Conclusion</vt:lpstr>
      <vt:lpstr>Future Thoughts</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959</cp:revision>
  <dcterms:created xsi:type="dcterms:W3CDTF">2025-11-26T02:07:37Z</dcterms:created>
  <dcterms:modified xsi:type="dcterms:W3CDTF">2025-11-29T03:12:24Z</dcterms:modified>
</cp:coreProperties>
</file>